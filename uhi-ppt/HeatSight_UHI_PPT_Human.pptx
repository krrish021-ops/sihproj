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latin typeface="Calibri"/>
              </a:rPr>
              <a:t>Sample LST trend (expected output format)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summer LST (°C)</c:v>
                </c:pt>
              </c:strCache>
            </c:strRef>
          </c:tx>
          <c:spPr>
            <a:ln w="31750">
              <a:solidFill>
                <a:srgbClr val="A93226"/>
              </a:solidFill>
            </a:ln>
          </c:spPr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2017</c:v>
                </c:pt>
                <c:pt idx="2">
                  <c:v>2019</c:v>
                </c:pt>
                <c:pt idx="3">
                  <c:v>2021</c:v>
                </c:pt>
                <c:pt idx="4">
                  <c:v>2023</c:v>
                </c:pt>
                <c:pt idx="5">
                  <c:v>2025</c:v>
                </c:pt>
                <c:pt idx="6">
                  <c:v>2030*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38.2</c:v>
                </c:pt>
                <c:pt idx="1">
                  <c:v>39.1</c:v>
                </c:pt>
                <c:pt idx="2">
                  <c:v>40.0</c:v>
                </c:pt>
                <c:pt idx="3">
                  <c:v>40.8</c:v>
                </c:pt>
                <c:pt idx="4">
                  <c:v>42.1</c:v>
                </c:pt>
                <c:pt idx="5">
                  <c:v>43.0</c:v>
                </c:pt>
                <c:pt idx="6">
                  <c:v>44.6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6.0"/>
          <c:min val="36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one-line idea: predict where Indian cities will overheat next, using free satellite data, so planners can act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UHI in one line, then the human cost. End with the planning gap question — that is the problem we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we did our homework: three things exist, each has a clear limitation. The note box is our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steps: past, future, action. Read the one-line summary at the end — that is what judges will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five boxes left to right. Mention the three formulas briefly and point to the appendix for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message: free stack, repeatable for any city. This handles objections about cost and feasibility.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this chart shows the OUTPUT FORMAT with sample numbers, not real results. Then read the four deliverables.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plan is realistic: one city first, then repeat. Mentioning the monsoon/cloud difficulty shows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real users. End with scale: 50+ cities, same method, zero data cost. This is the impact slide — speak with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judges, read the roles quickly, and invite questions. Keep the appendix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show if asked. Walk through the five steps briefly, then the UHI and model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16161"/>
                </a:solidFill>
                <a:latin typeface="Calibri"/>
              </a:rPr>
              <a:t>Smart India Hackathon 2026  •  Idea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212121"/>
                </a:solidFill>
                <a:latin typeface="Calibri"/>
              </a:rPr>
              <a:t>HeatSight: Forecasting Urban Heat Islands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16161"/>
                </a:solidFill>
                <a:latin typeface="Calibri"/>
              </a:rPr>
              <a:t>Using satellite LST time-series and land-use data to predict heat intensification in growing Indian cities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1097280" cy="41148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10515600" cy="1463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121"/>
                </a:solidFill>
                <a:latin typeface="Calibri"/>
              </a:rPr>
              <a:t>Team: </a:t>
            </a:r>
            <a:r>
              <a:rPr sz="1400" b="0">
                <a:solidFill>
                  <a:srgbClr val="212121"/>
                </a:solidFill>
                <a:latin typeface="Calibri"/>
              </a:rPr>
              <a:t>[ Your Team Name ]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121"/>
                </a:solidFill>
                <a:latin typeface="Calibri"/>
              </a:rPr>
              <a:t>College: </a:t>
            </a:r>
            <a:r>
              <a:rPr sz="1400" b="0">
                <a:solidFill>
                  <a:srgbClr val="212121"/>
                </a:solidFill>
                <a:latin typeface="Calibri"/>
              </a:rPr>
              <a:t>[ College Name, City ]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121"/>
                </a:solidFill>
                <a:latin typeface="Calibri"/>
              </a:rPr>
              <a:t>Problem Statement ID: </a:t>
            </a:r>
            <a:r>
              <a:rPr sz="1400" b="0">
                <a:solidFill>
                  <a:srgbClr val="212121"/>
                </a:solidFill>
                <a:latin typeface="Calibri"/>
              </a:rPr>
              <a:t>[ PS-ID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Team members: [ Name 1, Name 2, Name 3, Name 4, Name 5, Name 6 ]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HeatSight — Urban Heat Island Forecasting  |  SIH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55664"/>
            <a:ext cx="57607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121"/>
                </a:solidFill>
                <a:latin typeface="Calibri"/>
              </a:rPr>
              <a:t>Problem we are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Indian cities are heating up faster than their surroundings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16459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188720" cy="32004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HeatSight — Urban Heat Island Forecasting  |  SIH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57607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>
                <a:solidFill>
                  <a:srgbClr val="A93226"/>
                </a:solidFill>
                <a:latin typeface="Calibri"/>
              </a:rPr>
              <a:t>•  </a:t>
            </a:r>
            <a:r>
              <a:rPr sz="1350" b="1">
                <a:solidFill>
                  <a:srgbClr val="212121"/>
                </a:solidFill>
                <a:latin typeface="Calibri"/>
              </a:rPr>
              <a:t>Urban Heat Island effect: </a:t>
            </a:r>
            <a:r>
              <a:rPr sz="1350">
                <a:solidFill>
                  <a:srgbClr val="212121"/>
                </a:solidFill>
                <a:latin typeface="Calibri"/>
              </a:rPr>
              <a:t>built-up city areas stay 3–7 °C hotter than nearby rural areas, even at night.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>
                <a:solidFill>
                  <a:srgbClr val="A93226"/>
                </a:solidFill>
                <a:latin typeface="Calibri"/>
              </a:rPr>
              <a:t>•  </a:t>
            </a:r>
            <a:r>
              <a:rPr sz="1350" b="1">
                <a:solidFill>
                  <a:srgbClr val="212121"/>
                </a:solidFill>
                <a:latin typeface="Calibri"/>
              </a:rPr>
              <a:t>Heatwaves are getting worse: </a:t>
            </a:r>
            <a:r>
              <a:rPr sz="1350">
                <a:solidFill>
                  <a:srgbClr val="212121"/>
                </a:solidFill>
                <a:latin typeface="Calibri"/>
              </a:rPr>
              <a:t>Delhi recorded 50 °C+ days; heat-stroke cases rise every summer across North and Central India.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>
                <a:solidFill>
                  <a:srgbClr val="A93226"/>
                </a:solidFill>
                <a:latin typeface="Calibri"/>
              </a:rPr>
              <a:t>•  </a:t>
            </a:r>
            <a:r>
              <a:rPr sz="1350" b="1">
                <a:solidFill>
                  <a:srgbClr val="212121"/>
                </a:solidFill>
                <a:latin typeface="Calibri"/>
              </a:rPr>
              <a:t>Why it is happening: </a:t>
            </a:r>
            <a:r>
              <a:rPr sz="1350">
                <a:solidFill>
                  <a:srgbClr val="212121"/>
                </a:solidFill>
                <a:latin typeface="Calibri"/>
              </a:rPr>
              <a:t>concrete and asphalt replacing trees, lakes and open soil — heat gets absorbed in the day and released at night.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>
                <a:solidFill>
                  <a:srgbClr val="A93226"/>
                </a:solidFill>
                <a:latin typeface="Calibri"/>
              </a:rPr>
              <a:t>•  </a:t>
            </a:r>
            <a:r>
              <a:rPr sz="1350" b="1">
                <a:solidFill>
                  <a:srgbClr val="212121"/>
                </a:solidFill>
                <a:latin typeface="Calibri"/>
              </a:rPr>
              <a:t>Who suffers: </a:t>
            </a:r>
            <a:r>
              <a:rPr sz="1350">
                <a:solidFill>
                  <a:srgbClr val="212121"/>
                </a:solidFill>
                <a:latin typeface="Calibri"/>
              </a:rPr>
              <a:t>outdoor workers, elderly people, low-income households without cooling, and city power grids during peak demand.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>
                <a:solidFill>
                  <a:srgbClr val="A93226"/>
                </a:solidFill>
                <a:latin typeface="Calibri"/>
              </a:rPr>
              <a:t>•  </a:t>
            </a:r>
            <a:r>
              <a:rPr sz="1350" b="1">
                <a:solidFill>
                  <a:srgbClr val="212121"/>
                </a:solidFill>
                <a:latin typeface="Calibri"/>
              </a:rPr>
              <a:t>The planning gap: </a:t>
            </a:r>
            <a:r>
              <a:rPr sz="1350">
                <a:solidFill>
                  <a:srgbClr val="212121"/>
                </a:solidFill>
                <a:latin typeface="Calibri"/>
              </a:rPr>
              <a:t>today no planner can answer — which wards of my city will overheat in the next 5 years?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1069848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E9E9E"/>
                </a:solidFill>
                <a:latin typeface="Calibri"/>
              </a:rPr>
              <a:t>Sources: IMD heatwave reports 2023–25; IPCC AR6 (urban warming); news reports on Delhi / Ahmedabad heat action plans.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121"/>
                </a:solidFill>
                <a:latin typeface="Calibri"/>
              </a:rPr>
              <a:t>Why current solutions are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We studied what exists — each option misses something important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16459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188720" cy="32004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HeatSight — Urban Heat Island Forecasting  |  SIH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57607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83080"/>
          <a:ext cx="1072591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616952"/>
              </a:tblGrid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212121"/>
                          </a:solidFill>
                          <a:latin typeface="Calibri"/>
                        </a:rPr>
                        <a:t>What exists today</a:t>
                      </a:r>
                    </a:p>
                  </a:txBody>
                  <a:tcPr anchor="ctr" marL="91440" marR="73152" marT="36576" marB="36576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212121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ctr" marL="91440" marR="73152" marT="36576" marB="36576">
                    <a:solidFill>
                      <a:srgbClr val="E8E8E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IMD forecasts and weather apps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Give city-average air temperature. No ward-level detail, no land-surface heat data.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Research papers with LST maps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One-time static maps of a city. No future prediction, no usable tool for planners.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Smart city dashboards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Track air quality, traffic, etc. Heat-island forecasting is not included anywhere.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2427732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861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744468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402836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773936"/>
            <a:ext cx="10725912" cy="27432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74920"/>
            <a:ext cx="10725912" cy="86868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074920"/>
            <a:ext cx="64008" cy="868680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148072"/>
            <a:ext cx="10360152" cy="722375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16161"/>
                </a:solidFill>
                <a:latin typeface="Calibri"/>
              </a:rPr>
              <a:t>Our finding: there is no free, open tool that combines satellite heat data + land-use change to forecast future hotspots for planners. That is the gap HeatSight fills.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121"/>
                </a:solidFill>
                <a:latin typeface="Calibri"/>
              </a:rPr>
              <a:t>Our proposed solution — HeatSight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A forecasting system that tells planners where heat will rise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16459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188720" cy="32004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HeatSight — Urban Heat Island Forecasting  |  SIH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57607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 b="1">
                <a:solidFill>
                  <a:srgbClr val="A93226"/>
                </a:solidFill>
                <a:latin typeface="Calibri"/>
              </a:rPr>
              <a:t>1. Study the past (2015–2025). </a:t>
            </a:r>
            <a:r>
              <a:rPr sz="1350">
                <a:solidFill>
                  <a:srgbClr val="212121"/>
                </a:solidFill>
                <a:latin typeface="Calibri"/>
              </a:rPr>
              <a:t>Build a 10-year record of land-surface temperature and land-use change for every ward, from free satellite data.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A93226"/>
                </a:solidFill>
                <a:latin typeface="Calibri"/>
              </a:rPr>
              <a:t>2. Predict the hotspots (2030). </a:t>
            </a:r>
            <a:r>
              <a:rPr sz="1350">
                <a:solidFill>
                  <a:srgbClr val="212121"/>
                </a:solidFill>
                <a:latin typeface="Calibri"/>
              </a:rPr>
              <a:t>Use machine learning to forecast which wards will warm the fastest as construction and concrete cover grow.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A93226"/>
                </a:solidFill>
                <a:latin typeface="Calibri"/>
              </a:rPr>
              <a:t>3. Support planning decisions. </a:t>
            </a:r>
            <a:r>
              <a:rPr sz="1350">
                <a:solidFill>
                  <a:srgbClr val="212121"/>
                </a:solidFill>
                <a:latin typeface="Calibri"/>
              </a:rPr>
              <a:t>Provide a ward heat-risk ranking with practical suggestions — plantations, cool roofs, lake revival, building norms.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074920"/>
            <a:ext cx="10725912" cy="86868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074920"/>
            <a:ext cx="64008" cy="868680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148072"/>
            <a:ext cx="10360152" cy="722375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16161"/>
                </a:solidFill>
                <a:latin typeface="Calibri"/>
              </a:rPr>
              <a:t>In one line: past satellite heat data + land-use change → predicted future hotspots → better planning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121"/>
                </a:solidFill>
                <a:latin typeface="Calibri"/>
              </a:rPr>
              <a:t>Proposed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Five simple stages — from satellite data to ward-level forecast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16459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188720" cy="32004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HeatSight — Urban Heat Island Forecasting  |  SIH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57607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783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160020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A93226"/>
                </a:solidFill>
                <a:latin typeface="Calibri"/>
              </a:rPr>
              <a:t>Step 1 —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160020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16161"/>
                </a:solidFill>
                <a:latin typeface="Calibri"/>
              </a:rPr>
              <a:t>Landsat 8/9
Sentinel-2
MODIS, IMD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77440"/>
            <a:ext cx="4572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9E9E9E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1828800"/>
            <a:ext cx="1783080" cy="173736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947672"/>
            <a:ext cx="160020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A93226"/>
                </a:solidFill>
                <a:latin typeface="Calibri"/>
              </a:rPr>
              <a:t>Step 2 — Clean + 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468880"/>
            <a:ext cx="160020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16161"/>
                </a:solidFill>
                <a:latin typeface="Calibri"/>
              </a:rPr>
              <a:t>Cloud removal
LST calculation
Cut by ward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377440"/>
            <a:ext cx="4572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9E9E9E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1828800"/>
            <a:ext cx="1783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947672"/>
            <a:ext cx="160020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A93226"/>
                </a:solidFill>
                <a:latin typeface="Calibri"/>
              </a:rPr>
              <a:t>Step 3 —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468880"/>
            <a:ext cx="160020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16161"/>
                </a:solidFill>
                <a:latin typeface="Calibri"/>
              </a:rPr>
              <a:t>LST trend
NDVI, NDBI
Built-up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377440"/>
            <a:ext cx="4572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9E9E9E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1828800"/>
            <a:ext cx="1783080" cy="173736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1947672"/>
            <a:ext cx="160020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A93226"/>
                </a:solidFill>
                <a:latin typeface="Calibri"/>
              </a:rPr>
              <a:t>Step 4 — ML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468880"/>
            <a:ext cx="160020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16161"/>
                </a:solidFill>
                <a:latin typeface="Calibri"/>
              </a:rPr>
              <a:t>Random Forest /
XGBoost
Train on 2015–25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77440"/>
            <a:ext cx="4572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9E9E9E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1828800"/>
            <a:ext cx="1783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947672"/>
            <a:ext cx="160020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A93226"/>
                </a:solidFill>
                <a:latin typeface="Calibri"/>
              </a:rPr>
              <a:t>Step 5 —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468880"/>
            <a:ext cx="160020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16161"/>
                </a:solidFill>
                <a:latin typeface="Calibri"/>
              </a:rPr>
              <a:t>2030 hotspot map
Ward ranking
Action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886200"/>
            <a:ext cx="10725912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12121"/>
                </a:solidFill>
                <a:latin typeface="Calibri"/>
              </a:rPr>
              <a:t>Key formulas we will use:  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16161"/>
                </a:solidFill>
                <a:latin typeface="Consolas"/>
              </a:rPr>
              <a:t>NDVI = (NIR − Red)/(NIR + Red)      NDBI = (SWIR − NIR)/(SWIR + NIR)      UHI intensity = LST(urban) − LST(rural)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120640"/>
            <a:ext cx="10725912" cy="82296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120640"/>
            <a:ext cx="64008" cy="822960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193792"/>
            <a:ext cx="10360152" cy="67665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16161"/>
                </a:solidFill>
                <a:latin typeface="Calibri"/>
              </a:rPr>
              <a:t>Detailed step-by-step LST calculation is given in Appendix A (last slide).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121"/>
                </a:solidFill>
                <a:latin typeface="Calibri"/>
              </a:rPr>
              <a:t>Data sources and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Everything we plan to use is free and open — no paid software or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16459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188720" cy="32004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HeatSight — Urban Heat Island Forecasting  |  SIH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57607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83080"/>
          <a:ext cx="1072591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120640"/>
                <a:gridCol w="3502152"/>
              </a:tblGrid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 marL="91440" marR="73152" marT="36576" marB="36576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Tools / Data</a:t>
                      </a:r>
                    </a:p>
                  </a:txBody>
                  <a:tcPr anchor="ctr" marL="91440" marR="73152" marT="36576" marB="36576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Remarks</a:t>
                      </a:r>
                    </a:p>
                  </a:txBody>
                  <a:tcPr anchor="ctr" marL="91440" marR="73152" marT="36576" marB="36576">
                    <a:solidFill>
                      <a:srgbClr val="E8E8E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Satellite data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Landsat 8/9 (thermal), Sentinel-2, MODIS — via Google Earth Engine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Free; no heavy downloads needed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Processing + ML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Python, rasterio/GDAL, scikit-learn, XGBoost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Standard open-source libraries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Outputs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Hotspot maps, ward tables, trend charts (PDF + web page)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Simple formats planners already use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Cross-checking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IMD station data, Bhuvan maps, ground readings if available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To verify our predictions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2391156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12948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3474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256532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878324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773936"/>
            <a:ext cx="10725912" cy="27432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212080"/>
            <a:ext cx="10725912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212080"/>
            <a:ext cx="64008" cy="777240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85232"/>
            <a:ext cx="10360152" cy="63093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16161"/>
                </a:solidFill>
                <a:latin typeface="Calibri"/>
              </a:rPr>
              <a:t>Estimated cost of data and software: zero. The same method can be repeated for any Indian 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121"/>
                </a:solidFill>
                <a:latin typeface="Calibri"/>
              </a:rPr>
              <a:t>What we expect to deliver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Our planned outputs — with a sample trend to show the idea (illustrative values)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16459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188720" cy="32004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HeatSight — Urban Heat Island Forecasting  |  SIH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57607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49377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937760"/>
            <a:ext cx="493776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E9E9E"/>
                </a:solidFill>
                <a:latin typeface="Calibri"/>
              </a:rPr>
              <a:t>*2030 is the model forecast. Values are samples to show the output format.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783080"/>
            <a:ext cx="530352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A93226"/>
                </a:solidFill>
                <a:latin typeface="Calibri"/>
              </a:rPr>
              <a:t>Planned deliverables: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50">
                <a:solidFill>
                  <a:srgbClr val="A93226"/>
                </a:solidFill>
                <a:latin typeface="Calibri"/>
              </a:rPr>
              <a:t>•  </a:t>
            </a:r>
            <a:r>
              <a:rPr sz="1250">
                <a:solidFill>
                  <a:srgbClr val="212121"/>
                </a:solidFill>
                <a:latin typeface="Calibri"/>
              </a:rPr>
              <a:t>Ward-wise 2030 heat-risk table for the pilot city.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50">
                <a:solidFill>
                  <a:srgbClr val="A93226"/>
                </a:solidFill>
                <a:latin typeface="Calibri"/>
              </a:rPr>
              <a:t>•  </a:t>
            </a:r>
            <a:r>
              <a:rPr sz="1250">
                <a:solidFill>
                  <a:srgbClr val="212121"/>
                </a:solidFill>
                <a:latin typeface="Calibri"/>
              </a:rPr>
              <a:t>Hotspot map layers a planner can open in any GIS tool.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50">
                <a:solidFill>
                  <a:srgbClr val="A93226"/>
                </a:solidFill>
                <a:latin typeface="Calibri"/>
              </a:rPr>
              <a:t>•  </a:t>
            </a:r>
            <a:r>
              <a:rPr sz="1250">
                <a:solidFill>
                  <a:srgbClr val="212121"/>
                </a:solidFill>
                <a:latin typeface="Calibri"/>
              </a:rPr>
              <a:t>Short action note per high-risk ward (plantation, cool roofs, etc.).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50">
                <a:solidFill>
                  <a:srgbClr val="A93226"/>
                </a:solidFill>
                <a:latin typeface="Calibri"/>
              </a:rPr>
              <a:t>•  </a:t>
            </a:r>
            <a:r>
              <a:rPr sz="1250">
                <a:solidFill>
                  <a:srgbClr val="212121"/>
                </a:solidFill>
                <a:latin typeface="Calibri"/>
              </a:rPr>
              <a:t>Validation report comparing predictions with IMD records.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892040"/>
            <a:ext cx="5330952" cy="105156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892040"/>
            <a:ext cx="64008" cy="1051560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4965192"/>
            <a:ext cx="4965192" cy="905255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16161"/>
                </a:solidFill>
                <a:latin typeface="Calibri"/>
              </a:rPr>
              <a:t>Honest note: these are expected outputs. Real numbers will come only after we build the data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121"/>
                </a:solidFill>
                <a:latin typeface="Calibri"/>
              </a:rPr>
              <a:t>Work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How we will build this step by step (pilot: one city first)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16459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188720" cy="32004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HeatSight — Urban Heat Island Forecasting  |  SIH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57607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83080"/>
          <a:ext cx="1072591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188720"/>
                <a:gridCol w="4754880"/>
                <a:gridCol w="3776472"/>
              </a:tblGrid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 marL="91440" marR="73152" marT="36576" marB="36576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anchor="ctr" marL="91440" marR="73152" marT="36576" marB="36576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anchor="ctr" marL="91440" marR="73152" marT="36576" marB="36576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anchor="ctr" marL="91440" marR="73152" marT="36576" marB="36576">
                    <a:solidFill>
                      <a:srgbClr val="E8E8E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1. Data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Week 1–2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Collect Landsat + Sentinel-2 data on GEE; prepare ward maps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Clean 10-year heat dataset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2. Model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Week 3–4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Build features; train and test ML model; compare with IMD data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2030 ward-level forecast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3. Outputs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Week 5–6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Prepare maps, tables, charts and ward action notes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Complete pilot report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4. Testing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Week 7+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Ground checks; extend method to a second city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Tested, repeatable method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2409444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49524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89604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329684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969764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773936"/>
            <a:ext cx="10725912" cy="27432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212080"/>
            <a:ext cx="10725912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212080"/>
            <a:ext cx="64008" cy="777240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85232"/>
            <a:ext cx="10360152" cy="63093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16161"/>
                </a:solidFill>
                <a:latin typeface="Calibri"/>
              </a:rPr>
              <a:t>Possible difficulties: cloudy satellite images in monsoon months; we will use summer-season images and standard cloud filters.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121"/>
                </a:solidFill>
                <a:latin typeface="Calibri"/>
              </a:rPr>
              <a:t>Who will use this and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Connecting our output to real decisions in Indian cities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16459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188720" cy="32004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HeatSight — Urban Heat Island Forecasting  |  SIH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57607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>
                <a:solidFill>
                  <a:srgbClr val="A93226"/>
                </a:solidFill>
                <a:latin typeface="Calibri"/>
              </a:rPr>
              <a:t>•  </a:t>
            </a:r>
            <a:r>
              <a:rPr sz="1350" b="1">
                <a:solidFill>
                  <a:srgbClr val="212121"/>
                </a:solidFill>
                <a:latin typeface="Calibri"/>
              </a:rPr>
              <a:t>Municipal corporations: </a:t>
            </a:r>
            <a:r>
              <a:rPr sz="1350">
                <a:solidFill>
                  <a:srgbClr val="212121"/>
                </a:solidFill>
                <a:latin typeface="Calibri"/>
              </a:rPr>
              <a:t>decide where to plant trees, protect lakes, and apply cool-roof rules — ward by ward.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>
                <a:solidFill>
                  <a:srgbClr val="A93226"/>
                </a:solidFill>
                <a:latin typeface="Calibri"/>
              </a:rPr>
              <a:t>•  </a:t>
            </a:r>
            <a:r>
              <a:rPr sz="1350" b="1">
                <a:solidFill>
                  <a:srgbClr val="212121"/>
                </a:solidFill>
                <a:latin typeface="Calibri"/>
              </a:rPr>
              <a:t>Heat Action Plans (NDMA / state bodies): </a:t>
            </a:r>
            <a:r>
              <a:rPr sz="1350">
                <a:solidFill>
                  <a:srgbClr val="212121"/>
                </a:solidFill>
                <a:latin typeface="Calibri"/>
              </a:rPr>
              <a:t>get ward-level evidence to prepare city heat plans like Ahmedabad's.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>
                <a:solidFill>
                  <a:srgbClr val="A93226"/>
                </a:solidFill>
                <a:latin typeface="Calibri"/>
              </a:rPr>
              <a:t>•  </a:t>
            </a:r>
            <a:r>
              <a:rPr sz="1350" b="1">
                <a:solidFill>
                  <a:srgbClr val="212121"/>
                </a:solidFill>
                <a:latin typeface="Calibri"/>
              </a:rPr>
              <a:t>Town planners and builders: </a:t>
            </a:r>
            <a:r>
              <a:rPr sz="1350">
                <a:solidFill>
                  <a:srgbClr val="212121"/>
                </a:solidFill>
                <a:latin typeface="Calibri"/>
              </a:rPr>
              <a:t>check the likely heat impact of new layouts before giving approvals.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>
                <a:solidFill>
                  <a:srgbClr val="A93226"/>
                </a:solidFill>
                <a:latin typeface="Calibri"/>
              </a:rPr>
              <a:t>•  </a:t>
            </a:r>
            <a:r>
              <a:rPr sz="1350" b="1">
                <a:solidFill>
                  <a:srgbClr val="212121"/>
                </a:solidFill>
                <a:latin typeface="Calibri"/>
              </a:rPr>
              <a:t>Citizens: </a:t>
            </a:r>
            <a:r>
              <a:rPr sz="1350">
                <a:solidFill>
                  <a:srgbClr val="212121"/>
                </a:solidFill>
                <a:latin typeface="Calibri"/>
              </a:rPr>
              <a:t>cooler neighbourhoods, lower electricity bills, safer summers for workers and the elderly.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>
                <a:solidFill>
                  <a:srgbClr val="A93226"/>
                </a:solidFill>
                <a:latin typeface="Calibri"/>
              </a:rPr>
              <a:t>•  </a:t>
            </a:r>
            <a:r>
              <a:rPr sz="1350" b="1">
                <a:solidFill>
                  <a:srgbClr val="212121"/>
                </a:solidFill>
                <a:latin typeface="Calibri"/>
              </a:rPr>
              <a:t>Scale: </a:t>
            </a:r>
            <a:r>
              <a:rPr sz="1350">
                <a:solidFill>
                  <a:srgbClr val="212121"/>
                </a:solidFill>
                <a:latin typeface="Calibri"/>
              </a:rPr>
              <a:t>50+ Indian cities face serious heat-island stress — the same method can serve all of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121"/>
                </a:solidFill>
                <a:latin typeface="Calibri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Our team — questions are welcome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16459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188720" cy="32004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HeatSight — Urban Heat Island Forecasting  |  SIH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57607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83080"/>
          <a:ext cx="1072591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885432"/>
              </a:tblGrid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 anchor="ctr" marL="91440" marR="73152" marT="36576" marB="36576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12121"/>
                          </a:solidFill>
                          <a:latin typeface="Calibri"/>
                        </a:rPr>
                        <a:t>Role in this project</a:t>
                      </a:r>
                    </a:p>
                  </a:txBody>
                  <a:tcPr anchor="ctr" marL="91440" marR="73152" marT="36576" marB="36576">
                    <a:solidFill>
                      <a:srgbClr val="E8E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[ Member 1 — Name ]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Team lead — ML model and overall pipeline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[ Member 2 — Name ]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Satellite data and LST processing (GEE)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[ Member 3 — Name ]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Backend work — data handling and scripts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[ Member 4 — Name ]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Frontend/outputs — maps, charts and report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[ Member 5 — Name ]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Research — planning use-cases and validation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[ Member 6 — Name ]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Documentation, testing and presentation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2226564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83764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140964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98164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55364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512564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969764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1773936"/>
            <a:ext cx="10725912" cy="27432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725912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Contact: [ email ]   |   GitHub: [ link ]   |   Mentor: [ name, if any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121"/>
                </a:solidFill>
                <a:latin typeface="Calibri"/>
              </a:rPr>
              <a:t>Appendix A — LST calculation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For reference, if asked how surface temperature is calculated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16459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188720" cy="32004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HeatSight — Urban Heat Island Forecasting  |  SIH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57607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Step 1 — Convert satellite DN values to radiance:   Lλ = ML × DN + AL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Step 2 — Convert radiance to brightness temperature:   BT = K2 / ln(K1/Lλ + 1) − 273.15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Step 3 — Estimate vegetation fraction from NDVI:   Pv = [(NDVI − NDVImin)/(NDVImax − NDVImin)]²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Step 4 — Estimate surface emissivity:   ε = 0.004 × Pv + 0.986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Step 5 — Final LST:   LST = BT / [ 1 + (λ·BT/ρ) · ln(ε) ]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 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Then:  UHI intensity = average LST(urban wards) − average LST(rural surroundings)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Trend per ward = yearly slope of summer LST from 2015 to 2025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Forecast model:  LST(2030) = function of (past LST, NDVI, NDBI, built-up %) — checked using RMSE and R²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94960"/>
            <a:ext cx="10725912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394960"/>
            <a:ext cx="64008" cy="594360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468112"/>
            <a:ext cx="10360152" cy="44805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16161"/>
                </a:solidFill>
                <a:latin typeface="Calibri"/>
              </a:rPr>
              <a:t>Reference: Landsat Collection 2 handbook (USGS); Sobrino et al. NDVI-threshold emissivity method.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