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latin typeface="Calibri"/>
              </a:rPr>
              <a:t>Sample LST trend (expected output format)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Mean summer LST (°C)</c:v>
                </c:pt>
              </c:strCache>
            </c:strRef>
          </c:tx>
          <c:spPr>
            <a:ln w="31750">
              <a:solidFill>
                <a:srgbClr val="A93226"/>
              </a:solidFill>
            </a:ln>
          </c:spPr>
          <c:cat>
            <c:strRef>
              <c:f>Sheet1!$A$2:$A$8</c:f>
              <c:strCache>
                <c:ptCount val="7"/>
                <c:pt idx="0">
                  <c:v>2015</c:v>
                </c:pt>
                <c:pt idx="1">
                  <c:v>2017</c:v>
                </c:pt>
                <c:pt idx="2">
                  <c:v>2019</c:v>
                </c:pt>
                <c:pt idx="3">
                  <c:v>2021</c:v>
                </c:pt>
                <c:pt idx="4">
                  <c:v>2023</c:v>
                </c:pt>
                <c:pt idx="5">
                  <c:v>2025</c:v>
                </c:pt>
                <c:pt idx="6">
                  <c:v>2030*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38.2</c:v>
                </c:pt>
                <c:pt idx="1">
                  <c:v>39.1</c:v>
                </c:pt>
                <c:pt idx="2">
                  <c:v>40.0</c:v>
                </c:pt>
                <c:pt idx="3">
                  <c:v>40.8</c:v>
                </c:pt>
                <c:pt idx="4">
                  <c:v>42.1</c:v>
                </c:pt>
                <c:pt idx="5">
                  <c:v>43.0</c:v>
                </c:pt>
                <c:pt idx="6">
                  <c:v>44.6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6.0"/>
          <c:min val="36.0"/>
        </c:scaling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team and the one-line idea: predict where Indian cities will overheat next, using free satellite data, so planners can act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UHI in one line, then the human cost. End with the planning gap question — that is the problem we 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we did our homework: three things exist, each has a clear limitation. The note box is our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steps: past, future, action. Read the one-line summary at the end — that is what judges will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five boxes left to right. Mention the three formulas briefly and point to the appendix for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 message: free stack, repeatable for any city. This handles objections about cost and feasibility.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this chart shows the OUTPUT FORMAT with sample numbers, not real results. Then read the four deliverables.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three layers: what data comes in, what the model does, what the planner gets. Mention the build-order line at the bottom.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Name real users. End with scale: 50+ cities, same method, zero data cost. This is the impact slide — speak with energy.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the judges, read the roles quickly, and invite questions. Keep the appendix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Only show if asked. Walk through the five steps briefly, then the UHI and model lines.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16161"/>
                </a:solidFill>
                <a:latin typeface="Calibri"/>
              </a:rPr>
              <a:t>Smart India Hackathon 2026  •  Idea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9144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1">
                <a:solidFill>
                  <a:srgbClr val="212121"/>
                </a:solidFill>
                <a:latin typeface="Calibri"/>
              </a:rPr>
              <a:t>HeatSight: Forecasting Urban Heat Islands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058400" cy="7315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616161"/>
                </a:solidFill>
                <a:latin typeface="Calibri"/>
              </a:rPr>
              <a:t>Using satellite LST time-series and land-use data to predict heat intensification in growing Indian cities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200400"/>
            <a:ext cx="1097280" cy="41148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401568"/>
            <a:ext cx="6949440" cy="141732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3401568"/>
            <a:ext cx="64008" cy="141732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6492240" cy="11887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Team: </a:t>
            </a:r>
            <a:r>
              <a:rPr sz="1400" b="0">
                <a:solidFill>
                  <a:srgbClr val="212121"/>
                </a:solidFill>
                <a:latin typeface="Calibri"/>
              </a:rPr>
              <a:t>[ Your Team Name ]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College: </a:t>
            </a:r>
            <a:r>
              <a:rPr sz="1400" b="0">
                <a:solidFill>
                  <a:srgbClr val="212121"/>
                </a:solidFill>
                <a:latin typeface="Calibri"/>
              </a:rPr>
              <a:t>[ College Name, City ]</a:t>
            </a:r>
          </a:p>
          <a:p>
            <a:pPr algn="l">
              <a:spcAft>
                <a:spcPts val="400"/>
              </a:spcAft>
            </a:pPr>
            <a:r>
              <a:rPr sz="1400" b="1">
                <a:solidFill>
                  <a:srgbClr val="212121"/>
                </a:solidFill>
                <a:latin typeface="Calibri"/>
              </a:rPr>
              <a:t>Problem Statement ID: </a:t>
            </a:r>
            <a:r>
              <a:rPr sz="1400" b="0">
                <a:solidFill>
                  <a:srgbClr val="212121"/>
                </a:solidFill>
                <a:latin typeface="Calibri"/>
              </a:rPr>
              <a:t>[ PS-ID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16161"/>
                </a:solidFill>
                <a:latin typeface="Calibri"/>
              </a:rPr>
              <a:t>Team members: [ Name 1, Name 2, Name 3, Name 4, Name 5, Name 6 ]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Problem we are solving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Indian cities are heating up faster than their surroundings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Urban Heat Island effect: </a:t>
            </a:r>
            <a:r>
              <a:rPr sz="1350">
                <a:solidFill>
                  <a:srgbClr val="212121"/>
                </a:solidFill>
                <a:latin typeface="Calibri"/>
              </a:rPr>
              <a:t>built-up city areas stay 3–7 °C hotter than nearby rural areas, even at night.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Heatwaves are getting worse: </a:t>
            </a:r>
            <a:r>
              <a:rPr sz="1350">
                <a:solidFill>
                  <a:srgbClr val="212121"/>
                </a:solidFill>
                <a:latin typeface="Calibri"/>
              </a:rPr>
              <a:t>Delhi recorded 50 °C+ days; heat-stroke cases rise every summer across North and Central India.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Why it is happening: </a:t>
            </a:r>
            <a:r>
              <a:rPr sz="1350">
                <a:solidFill>
                  <a:srgbClr val="212121"/>
                </a:solidFill>
                <a:latin typeface="Calibri"/>
              </a:rPr>
              <a:t>concrete and asphalt replacing trees, lakes and open soil — heat gets absorbed in the day and released at night.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Who suffers: </a:t>
            </a:r>
            <a:r>
              <a:rPr sz="1350">
                <a:solidFill>
                  <a:srgbClr val="212121"/>
                </a:solidFill>
                <a:latin typeface="Calibri"/>
              </a:rPr>
              <a:t>outdoor workers, elderly people, low-income households without cooling, and city power grids during peak demand.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The planning gap: </a:t>
            </a:r>
            <a:r>
              <a:rPr sz="1350">
                <a:solidFill>
                  <a:srgbClr val="212121"/>
                </a:solidFill>
                <a:latin typeface="Calibri"/>
              </a:rPr>
              <a:t>today no planner can answer — which wards of my city will overheat in the next 5 years?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E9E9E"/>
                </a:solidFill>
                <a:latin typeface="Calibri"/>
              </a:rPr>
              <a:t>Sources: IMD heatwave reports 2023–25; IPCC AR6 (urban warming); news reports on Delhi / Ahmedabad heat action plans.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Why current solutions are not enough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We studied what exists — each option misses something important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616952"/>
              </a:tblGrid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What exists today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300" b="1">
                          <a:solidFill>
                            <a:srgbClr val="212121"/>
                          </a:solidFill>
                          <a:latin typeface="Calibri"/>
                        </a:rPr>
                        <a:t>Limitation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IMD forecasts and weather apps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Give city-average air temperature. No ward-level detail, no land-surface heat data.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Research papers with LST maps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One-time static maps of a city. No future prediction, no usable tool for planners.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Smart city dashboards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0">
                          <a:solidFill>
                            <a:srgbClr val="212121"/>
                          </a:solidFill>
                          <a:latin typeface="Calibri"/>
                        </a:rPr>
                        <a:t>Track air quality, traffic, etc. Heat-island forecasting is not included anywhere.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427732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0861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744468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402836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5074920"/>
            <a:ext cx="10725912" cy="8686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74920"/>
            <a:ext cx="64008" cy="86868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5148072"/>
            <a:ext cx="10360152" cy="722375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Our finding: there is no free, open tool that combines satellite heat data + land-use change to forecast future hotspots for planners. That is the gap HeatSight fills.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Our proposed solution — HeatSight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A forecasting system that tells planners where heat will rise next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350" b="1">
                <a:solidFill>
                  <a:srgbClr val="A93226"/>
                </a:solidFill>
                <a:latin typeface="Calibri"/>
              </a:rPr>
              <a:t>1. Study the past (2015–2025). </a:t>
            </a:r>
            <a:r>
              <a:rPr sz="1350">
                <a:solidFill>
                  <a:srgbClr val="212121"/>
                </a:solidFill>
                <a:latin typeface="Calibri"/>
              </a:rPr>
              <a:t>Build a 10-year record of land-surface temperature and land-use change for every ward, from free satellite data.</a:t>
            </a: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A93226"/>
                </a:solidFill>
                <a:latin typeface="Calibri"/>
              </a:rPr>
              <a:t>2. Predict the hotspots (2030). </a:t>
            </a:r>
            <a:r>
              <a:rPr sz="1350">
                <a:solidFill>
                  <a:srgbClr val="212121"/>
                </a:solidFill>
                <a:latin typeface="Calibri"/>
              </a:rPr>
              <a:t>Use machine learning to forecast which wards will warm the fastest as construction and concrete cover grow.</a:t>
            </a:r>
          </a:p>
          <a:p>
            <a:pPr>
              <a:spcAft>
                <a:spcPts val="1200"/>
              </a:spcAft>
            </a:pPr>
            <a:r>
              <a:rPr sz="1350" b="1">
                <a:solidFill>
                  <a:srgbClr val="A93226"/>
                </a:solidFill>
                <a:latin typeface="Calibri"/>
              </a:rPr>
              <a:t>3. Support planning decisions. </a:t>
            </a:r>
            <a:r>
              <a:rPr sz="1350">
                <a:solidFill>
                  <a:srgbClr val="212121"/>
                </a:solidFill>
                <a:latin typeface="Calibri"/>
              </a:rPr>
              <a:t>Provide a ward heat-risk ranking with practical suggestions — plantations, cool roofs, lake revival, building norms.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74920"/>
            <a:ext cx="10725912" cy="86868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074920"/>
            <a:ext cx="64008" cy="86868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148072"/>
            <a:ext cx="10360152" cy="722375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In one line: past satellite heat data + land-use change → predicted future hotspots → better planning decisions.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Proposed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Five simple stages — from satellite data to ward-level forecast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28800"/>
            <a:ext cx="1783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1 —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Landsat 8/9
Sentinel-2
MODIS, IMD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828800"/>
            <a:ext cx="1783080" cy="17373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6324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2 — Clean + Prepare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324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Cloud removal
LST calculation
Cut by ward map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12080" y="1828800"/>
            <a:ext cx="1783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3 —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LST trend
NDVI, NDBI
Built-up 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9516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52360" y="1828800"/>
            <a:ext cx="1783080" cy="1737360"/>
          </a:xfrm>
          <a:prstGeom prst="roundRect">
            <a:avLst/>
          </a:prstGeom>
          <a:solidFill>
            <a:srgbClr val="F5F5F5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4380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4 — ML Model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4380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Random Forest /
XGBoost
Train on 2015–25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377440"/>
            <a:ext cx="45720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2200" b="1">
                <a:solidFill>
                  <a:srgbClr val="9E9E9E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1828800"/>
            <a:ext cx="178308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0" y="1947672"/>
            <a:ext cx="160020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Step 5 —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2468880"/>
            <a:ext cx="1600200" cy="10058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2030 hotspot map
Ward ranking
Action points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3886200"/>
            <a:ext cx="10725912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212121"/>
                </a:solidFill>
                <a:latin typeface="Calibri"/>
              </a:rPr>
              <a:t>Key formulas we will use:  </a:t>
            </a:r>
          </a:p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onsolas"/>
              </a:rPr>
              <a:t>NDVI = (NIR − Red)/(NIR + Red)      NDBI = (SWIR − NIR)/(SWIR + NIR)      UHI intensity = LST(urban) − LST(rural)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120640"/>
            <a:ext cx="10725912" cy="82296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" y="5120640"/>
            <a:ext cx="64008" cy="82296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2688" y="5193792"/>
            <a:ext cx="10360152" cy="67665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Detailed step-by-step LST calculation is given in Appendix A (last slide).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Data sources and tools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Everything we plan to use is free and open — no paid software or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5120640"/>
                <a:gridCol w="3502152"/>
              </a:tblGrid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Tools / Data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Remarks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Satellite data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Landsat 8/9 (thermal), Sentinel-2, MODIS — via Google Earth Engine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Free; no heavy downloads needed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Processing + ML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Python, rasterio/GDAL, scikit-learn, XGBoost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Standard open-source libraries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Outputs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Hotspot maps, ward tables, trend charts (PDF + web page)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Simple formats planners already use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1">
                          <a:solidFill>
                            <a:srgbClr val="212121"/>
                          </a:solidFill>
                          <a:latin typeface="Calibri"/>
                        </a:rPr>
                        <a:t>Cross-checking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IMD station data, Bhuvan maps, ground readings if available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To verify our predictions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391156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3012948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63474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4256532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87832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212080"/>
            <a:ext cx="10725912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5212080"/>
            <a:ext cx="64008" cy="77724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5285232"/>
            <a:ext cx="10360152" cy="63093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Estimated cost of data and software: zero. The same method can be repeated for any Indian city.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What we expect to deliver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Our planned outputs — with a sample trend to show the idea (illustrative values)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731520" y="1828800"/>
          <a:ext cx="49377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31520" y="4937760"/>
            <a:ext cx="4937760" cy="45720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9E9E9E"/>
                </a:solidFill>
                <a:latin typeface="Calibri"/>
              </a:rPr>
              <a:t>*2030 is the model forecast. Values are samples to show the output format.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783080"/>
            <a:ext cx="530352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A93226"/>
                </a:solidFill>
                <a:latin typeface="Calibri"/>
              </a:rPr>
              <a:t>Planned deliverables: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19456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Ward-wise 2030 heat-risk table for the pilot city.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Hotspot map layers a planner can open in any GIS tool.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Short action note per high-risk ward (plantation, cool roofs, etc.).</a:t>
            </a:r>
          </a:p>
          <a:p>
            <a:pPr>
              <a:spcBef>
                <a:spcPts val="200"/>
              </a:spcBef>
              <a:spcAft>
                <a:spcPts val="800"/>
              </a:spcAft>
            </a:pPr>
            <a:r>
              <a:rPr sz="1250">
                <a:solidFill>
                  <a:srgbClr val="A93226"/>
                </a:solidFill>
                <a:latin typeface="Calibri"/>
              </a:rPr>
              <a:t>•  </a:t>
            </a:r>
            <a:r>
              <a:rPr sz="1250">
                <a:solidFill>
                  <a:srgbClr val="212121"/>
                </a:solidFill>
                <a:latin typeface="Calibri"/>
              </a:rPr>
              <a:t>Validation report comparing predictions with IMD records.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4892040"/>
            <a:ext cx="5330952" cy="105156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4892040"/>
            <a:ext cx="64008" cy="105156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4965192"/>
            <a:ext cx="4965192" cy="905255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Honest note: these are expected outputs. Real numbers will come only after we build the data pipeline.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How the parts connect — satellite data in, planning decisions 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737360"/>
            <a:ext cx="1072591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737360"/>
            <a:ext cx="64008" cy="1170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956816"/>
            <a:ext cx="164592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LAYER 1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16161"/>
                </a:solidFill>
                <a:latin typeface="Calibri"/>
              </a:rPr>
              <a:t>Data sources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88920" y="1938528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62072" y="1956816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Landsat 8/9
thermal (LST)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46904" y="1938528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6" y="1956816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Sentinel-2
land-use images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04888" y="1938528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78040" y="1956816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MODIS LST
+ IMD records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62872" y="1938528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6024" y="1956816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Ward / city
boundary maps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2935224"/>
            <a:ext cx="64008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9E9E9E"/>
                </a:solidFill>
                <a:latin typeface="Calibri"/>
              </a:rPr>
              <a:t>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27832"/>
            <a:ext cx="10725912" cy="11704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227832"/>
            <a:ext cx="64008" cy="1170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447288"/>
            <a:ext cx="164592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LAYER 2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16161"/>
                </a:solidFill>
                <a:latin typeface="Calibri"/>
              </a:rPr>
              <a:t>Processing + model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788920" y="3429000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62072" y="3447288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Clean + align
data (GEE)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46904" y="3429000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0056" y="3447288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Build features:
NDVI, NDBI…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04888" y="3429000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3447288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Train ML model
(RF / XGBoost)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262872" y="3429000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6024" y="3447288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Forecast
2030 hotspots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720" y="4425696"/>
            <a:ext cx="640080" cy="292608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9E9E9E"/>
                </a:solidFill>
                <a:latin typeface="Calibri"/>
              </a:rPr>
              <a:t>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31520" y="4718304"/>
            <a:ext cx="10725912" cy="1170432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31520" y="4718304"/>
            <a:ext cx="64008" cy="1170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4937760"/>
            <a:ext cx="1645920" cy="8229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A93226"/>
                </a:solidFill>
                <a:latin typeface="Calibri"/>
              </a:rPr>
              <a:t>LAYER 3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616161"/>
                </a:solidFill>
                <a:latin typeface="Calibri"/>
              </a:rPr>
              <a:t>Outputs + users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788920" y="4919472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4937760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Hotspot maps
(GIS layers)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46904" y="4919472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0056" y="4937760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Ward heat-risk
tables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104888" y="4919472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78040" y="4937760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Ward action
notes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62872" y="4919472"/>
            <a:ext cx="1993392" cy="768096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9E9E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36024" y="4937760"/>
            <a:ext cx="1847088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212121"/>
                </a:solidFill>
                <a:latin typeface="Calibri"/>
              </a:rPr>
              <a:t>City heat-plan
report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007608"/>
            <a:ext cx="10725912" cy="3200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616161"/>
                </a:solidFill>
                <a:latin typeface="Calibri"/>
              </a:rPr>
              <a:t>Build order:  data pipeline  →  model  →  outputs  →  field testing    ·    Pilot on one city first (about 7 weeks)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Who will use this and why it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Connecting our output to real decisions in Indian cities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Municipal corporations: </a:t>
            </a:r>
            <a:r>
              <a:rPr sz="1350">
                <a:solidFill>
                  <a:srgbClr val="212121"/>
                </a:solidFill>
                <a:latin typeface="Calibri"/>
              </a:rPr>
              <a:t>decide where to plant trees, protect lakes, and apply cool-roof rules — ward by ward.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Heat Action Plans (NDMA / state bodies): </a:t>
            </a:r>
            <a:r>
              <a:rPr sz="1350">
                <a:solidFill>
                  <a:srgbClr val="212121"/>
                </a:solidFill>
                <a:latin typeface="Calibri"/>
              </a:rPr>
              <a:t>get ward-level evidence to prepare city heat plans like Ahmedabad's.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Town planners and builders: </a:t>
            </a:r>
            <a:r>
              <a:rPr sz="1350">
                <a:solidFill>
                  <a:srgbClr val="212121"/>
                </a:solidFill>
                <a:latin typeface="Calibri"/>
              </a:rPr>
              <a:t>check the likely heat impact of new layouts before giving approvals.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Citizens: </a:t>
            </a:r>
            <a:r>
              <a:rPr sz="1350">
                <a:solidFill>
                  <a:srgbClr val="212121"/>
                </a:solidFill>
                <a:latin typeface="Calibri"/>
              </a:rPr>
              <a:t>cooler neighbourhoods, lower electricity bills, safer summers for workers and the elderly.</a:t>
            </a:r>
          </a:p>
          <a:p>
            <a:pPr>
              <a:spcBef>
                <a:spcPts val="200"/>
              </a:spcBef>
              <a:spcAft>
                <a:spcPts val="900"/>
              </a:spcAft>
            </a:pPr>
            <a:r>
              <a:rPr sz="1350">
                <a:solidFill>
                  <a:srgbClr val="A93226"/>
                </a:solidFill>
                <a:latin typeface="Calibri"/>
              </a:rPr>
              <a:t>•  </a:t>
            </a:r>
            <a:r>
              <a:rPr sz="1350" b="1">
                <a:solidFill>
                  <a:srgbClr val="212121"/>
                </a:solidFill>
                <a:latin typeface="Calibri"/>
              </a:rPr>
              <a:t>Scale: </a:t>
            </a:r>
            <a:r>
              <a:rPr sz="1350">
                <a:solidFill>
                  <a:srgbClr val="212121"/>
                </a:solidFill>
                <a:latin typeface="Calibri"/>
              </a:rPr>
              <a:t>50+ Indian cities face serious heat-island stress — the same method can serve all of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Thank you!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Our team — questions are welcome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" y="1783080"/>
          <a:ext cx="10725912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6885432"/>
              </a:tblGrid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Team member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50" b="1">
                          <a:solidFill>
                            <a:srgbClr val="212121"/>
                          </a:solidFill>
                          <a:latin typeface="Calibri"/>
                        </a:rPr>
                        <a:t>Role in this project</a:t>
                      </a:r>
                    </a:p>
                  </a:txBody>
                  <a:tcPr anchor="ctr" marL="91440" marR="73152" marT="36576" marB="36576">
                    <a:solidFill>
                      <a:srgbClr val="E8E8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1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Team lead — ML model and overall pipeline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2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Satellite data and LST processing (GEE)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3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Backend work — data handling and scripts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4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Frontend/outputs — maps, charts and report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5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Research — planning use-cases and validation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[ Member 6 — Name ]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200" b="0">
                          <a:solidFill>
                            <a:srgbClr val="212121"/>
                          </a:solidFill>
                          <a:latin typeface="Calibri"/>
                        </a:rPr>
                        <a:t>Documentation, testing and presentation</a:t>
                      </a:r>
                    </a:p>
                  </a:txBody>
                  <a:tcPr anchor="ctr" marL="91440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731520" y="22265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26837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409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5981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553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45125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4969764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1773936"/>
            <a:ext cx="10725912" cy="27432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5669280"/>
            <a:ext cx="10725912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16161"/>
                </a:solidFill>
                <a:latin typeface="Calibri"/>
              </a:rPr>
              <a:t>Contact: [ email ]   |   GitHub: [ link ]   |   Mentor: [ name, if any 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212121"/>
                </a:solidFill>
                <a:latin typeface="Calibri"/>
              </a:rPr>
              <a:t>Appendix A — LST calculation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16161"/>
                </a:solidFill>
                <a:latin typeface="Calibri"/>
              </a:rPr>
              <a:t>For reference, if asked how surface temperature is calculated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10725912" cy="16459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17320"/>
            <a:ext cx="1188720" cy="32004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6400800"/>
            <a:ext cx="10725912" cy="13716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455664"/>
            <a:ext cx="7315200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HeatSight — Urban Heat Island Forecasting  |  SIH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55664"/>
            <a:ext cx="576072" cy="274320"/>
          </a:xfrm>
          <a:prstGeom prst="rect">
            <a:avLst/>
          </a:prstGeom>
          <a:noFill/>
        </p:spPr>
        <p:txBody>
          <a:bodyPr wrap="square" anchor="t" lIns="18288" rIns="18288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9E9E9E"/>
                </a:solidFill>
                <a:latin typeface="Calibr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106984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1 — Convert satellite DN values to radiance:   Lλ = ML × DN + AL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2 — Convert radiance to brightness temperature:   BT = K2 / ln(K1/Lλ + 1) − 273.15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3 — Estimate vegetation fraction from NDVI:   Pv = [(NDVI − NDVImin)/(NDVImax − NDVImin)]²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4 — Estimate surface emissivity:   ε = 0.004 × Pv + 0.986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Step 5 — Final LST:   LST = BT / [ 1 + (λ·BT/ρ) · ln(ε) ]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 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Then:  UHI intensity = average LST(urban wards) − average LST(rural surroundings)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Trend per ward = yearly slope of summer LST from 2015 to 2025</a:t>
            </a:r>
          </a:p>
          <a:p>
            <a:pPr>
              <a:spcAft>
                <a:spcPts val="700"/>
              </a:spcAft>
            </a:pPr>
            <a:r>
              <a:rPr sz="1250">
                <a:solidFill>
                  <a:srgbClr val="212121"/>
                </a:solidFill>
                <a:latin typeface="Consolas"/>
              </a:rPr>
              <a:t>Forecast model:  LST(2030) = function of (past LST, NDVI, NDBI, built-up %) — checked using RMSE and R²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394960"/>
            <a:ext cx="10725912" cy="594360"/>
          </a:xfrm>
          <a:prstGeom prst="rect">
            <a:avLst/>
          </a:prstGeom>
          <a:solidFill>
            <a:srgbClr val="F5F5F5"/>
          </a:solidFill>
          <a:ln w="9525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5394960"/>
            <a:ext cx="64008" cy="594360"/>
          </a:xfrm>
          <a:prstGeom prst="rect">
            <a:avLst/>
          </a:prstGeom>
          <a:solidFill>
            <a:srgbClr val="A9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5468112"/>
            <a:ext cx="10360152" cy="448056"/>
          </a:xfrm>
          <a:prstGeom prst="rect">
            <a:avLst/>
          </a:prstGeom>
          <a:noFill/>
        </p:spPr>
        <p:txBody>
          <a:bodyPr wrap="square" anchor="ctr" lIns="18288" rIns="18288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616161"/>
                </a:solidFill>
                <a:latin typeface="Calibri"/>
              </a:rPr>
              <a:t>Reference: Landsat Collection 2 handbook (USGS); Sobrino et al. NDVI-threshold emissivity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