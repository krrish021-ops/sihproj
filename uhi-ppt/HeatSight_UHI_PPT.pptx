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Sample: LST vs built-up (illustrative)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summer LST (°C)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  <c:pt idx="4">
                  <c:v>2023</c:v>
                </c:pt>
                <c:pt idx="5">
                  <c:v>2025</c:v>
                </c:pt>
                <c:pt idx="6">
                  <c:v>2030*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38.2</c:v>
                </c:pt>
                <c:pt idx="1">
                  <c:v>39.1</c:v>
                </c:pt>
                <c:pt idx="2">
                  <c:v>40.0</c:v>
                </c:pt>
                <c:pt idx="3">
                  <c:v>40.8</c:v>
                </c:pt>
                <c:pt idx="4">
                  <c:v>42.1</c:v>
                </c:pt>
                <c:pt idx="5">
                  <c:v>43.0</c:v>
                </c:pt>
                <c:pt idx="6">
                  <c:v>44.6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Built-up %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  <c:pt idx="4">
                  <c:v>2023</c:v>
                </c:pt>
                <c:pt idx="5">
                  <c:v>2025</c:v>
                </c:pt>
                <c:pt idx="6">
                  <c:v>2030*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</c:v>
                </c:pt>
                <c:pt idx="1">
                  <c:v>34</c:v>
                </c:pt>
                <c:pt idx="2">
                  <c:v>37</c:v>
                </c:pt>
                <c:pt idx="3">
                  <c:v>40</c:v>
                </c:pt>
                <c:pt idx="4">
                  <c:v>43</c:v>
                </c:pt>
                <c:pt idx="5">
                  <c:v>46</c:v>
                </c:pt>
                <c:pt idx="6">
                  <c:v>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°C /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heatmap visual in mind. Say: Indian cities are heating 3-7°C more than villages around them, and planners today have no forecasting tool. HeatSight fixes that.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sec. Define UHI in one line, then hit 3 pains: deaths/health, energy cost, and planners having no tool. End with: nobody predicts WHERE heat grows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sec. Name 3 things that exist and why each is not enough. Land on the gap: prediction + planning in one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sec. Past, future, action. Point at each card. End with the one-line summary — judges remember one-liners.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 — most important slide. Walk left to right in 5 steps. Say one line on the science: LST corrected with NDVI emissivity, NDBI tracks concrete, UHI = urban minus rural. Point to appendix for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sec. Stress FREE and SCALABLE — every dataset is open. That answers the judge's cost question before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sec. Walk through: red/yellow/green zones, rising LST curve tracking built-up growth, ward ranking. Say honestly: illustrative mockup, real numbers after pipeline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sec. Show you can execute. Emphasize: pilot ONE city first, then scale. Judges fear over-scoped projects — this calms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 — winner slide. Name real users: municipality, Smart City mission, NDMA. End with scale: 50+ cities, zero data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sec. Read roles fast, thank judges, invite questions. Have appendix ready if they ask about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only. If asked 'how do you compute LST', walk through steps 1-5, then UHI and model line. Keep under 60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SMART INDIA HACKATHON 2026  •  PROBLEM STATEMENT [PS-ID]</a:t>
            </a:r>
          </a:p>
          <a:p>
            <a:pPr algn="ctr">
              <a:spcBef>
                <a:spcPts val="1800"/>
              </a:spcBef>
            </a:pPr>
            <a:r>
              <a:rPr sz="7200" b="1">
                <a:solidFill>
                  <a:srgbClr val="FFFFFF"/>
                </a:solidFill>
                <a:latin typeface="Calibri"/>
              </a:rPr>
              <a:t>HeatSight</a:t>
            </a:r>
          </a:p>
          <a:p>
            <a:pPr algn="ctr"/>
            <a:r>
              <a:rPr sz="2200">
                <a:solidFill>
                  <a:srgbClr val="FFC300"/>
                </a:solidFill>
                <a:latin typeface="Calibri"/>
              </a:rPr>
              <a:t>Forecasting Urban Heat Islands for Climate-Smart Indian Cities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
                  <a:srgbClr val="A0AEC0"/>
                </a:solidFill>
                <a:latin typeface="Calibri"/>
              </a:rPr>
              <a:t>Satellite LST time-series  +  land-use data  →  ward-level heat intensification forecast for urban planners</a:t>
            </a:r>
          </a:p>
          <a:p>
            <a:pPr algn="ctr">
              <a:spcBef>
                <a:spcPts val="22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Team [Your Team Name]   •   [College Name]   •   [City]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THE PROBLEM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Indian cities are becoming heat traps</a:t>
            </a:r>
          </a:p>
          <a:p>
            <a:r>
              <a:rPr sz="1500">
                <a:solidFill>
                  <a:srgbClr val="A0AEC0"/>
                </a:solidFill>
                <a:latin typeface="Calibri"/>
              </a:rPr>
              <a:t>Urban Heat Island (UHI): built-up city zones stay 3–7 °C hotter than surrounding rural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Heatwaves are deadlier every year: </a:t>
            </a:r>
            <a:r>
              <a:rPr sz="1700">
                <a:solidFill>
                  <a:srgbClr val="FFFFFF"/>
                </a:solidFill>
                <a:latin typeface="Calibri"/>
              </a:rPr>
              <a:t>Delhi crossed 50 °C; thousands of heat-stroke cases each summer across North &amp; Central India.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Concrete replaces green cover: </a:t>
            </a:r>
            <a:r>
              <a:rPr sz="1700">
                <a:solidFill>
                  <a:srgbClr val="FFFFFF"/>
                </a:solidFill>
                <a:latin typeface="Calibri"/>
              </a:rPr>
              <a:t>rapid construction + shrinking lakes/parks trap daytime heat deep into the night.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Energy &amp; health bills explode: </a:t>
            </a:r>
            <a:r>
              <a:rPr sz="1700">
                <a:solidFill>
                  <a:srgbClr val="FFFFFF"/>
                </a:solidFill>
                <a:latin typeface="Calibri"/>
              </a:rPr>
              <a:t>peak power demand, water stress, outdoor worker illness, higher mortality in dense wards.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Planners fly blind today: </a:t>
            </a:r>
            <a:r>
              <a:rPr sz="1700">
                <a:solidFill>
                  <a:srgbClr val="FFFFFF"/>
                </a:solidFill>
                <a:latin typeface="Calibri"/>
              </a:rPr>
              <a:t>no ward-level forecast exists of WHERE heat will intensify next as the city grows.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WHY EXISTING SOLUTIONS FAIL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Weather apps tell temperature — nobody predicts heat islands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IMD / weather apps: </a:t>
            </a:r>
            <a:r>
              <a:rPr sz="1700">
                <a:solidFill>
                  <a:srgbClr val="FFFFFF"/>
                </a:solidFill>
                <a:latin typeface="Calibri"/>
              </a:rPr>
              <a:t>give city-average air temperature, not land-surface heat at ward/street level.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Research papers: </a:t>
            </a:r>
            <a:r>
              <a:rPr sz="1700">
                <a:solidFill>
                  <a:srgbClr val="FFFFFF"/>
                </a:solidFill>
                <a:latin typeface="Calibri"/>
              </a:rPr>
              <a:t>one-time LST maps of a city — static PDFs, no forecast, no planner dashboard.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Smart city dashboards: </a:t>
            </a:r>
            <a:r>
              <a:rPr sz="1700">
                <a:solidFill>
                  <a:srgbClr val="FFFFFF"/>
                </a:solidFill>
                <a:latin typeface="Calibri"/>
              </a:rPr>
              <a:t>track air quality &amp; traffic, but have zero heat-intensification intelligence.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Our gap = our opportunity: </a:t>
            </a:r>
            <a:r>
              <a:rPr sz="1700">
                <a:solidFill>
                  <a:srgbClr val="FFFFFF"/>
                </a:solidFill>
                <a:latin typeface="Calibri"/>
              </a:rPr>
              <a:t>no open, scalable tool links satellite LST + land-use change → future hotspot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PROPOSED IDEA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HeatSight: a heat-forecast copilot for urban planners</a:t>
            </a:r>
          </a:p>
          <a:p>
            <a:r>
              <a:rPr sz="1500">
                <a:solidFill>
                  <a:srgbClr val="A0AEC0"/>
                </a:solidFill>
                <a:latin typeface="Calibri"/>
              </a:rPr>
              <a:t>Three things the system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91840" cy="228600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  •  MAP THE PAST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10-year satellite LST time-series (2015–2025) + land-use change per ward: built-up %, green cover, water bodies.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291840" cy="228600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 •  FORECAST HOTSPOTS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ML model predicts 2030 heat-intensification zones: which wards will warm fastest as construction grows.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228600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  •  GUIDE ACTION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Ward heat-risk ranking + planning suggestions: plantations, cool roofs, lake revival, building norms.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C300"/>
                </a:solidFill>
                <a:latin typeface="Calibri"/>
              </a:rPr>
              <a:t>One line: past heat  +  land-use change  →  future hotspots  →  planning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HOW IT WILL WORK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System architecture: from satellite pixels to planner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1920240" cy="201168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SATELLITE DATA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Landsat 8/9 LST
Sentinel-2 land-use
MODIS, IMD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8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194560"/>
            <a:ext cx="1920240" cy="201168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PREPROCESS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Cloud masking
LST retrieval
Ward clipping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194560"/>
            <a:ext cx="1920240" cy="201168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FEATURES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LST trend
NDVI • NDBI
Built-up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194560"/>
            <a:ext cx="1920240" cy="201168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ML MODEL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Random Forest
XGBoost / LSTM
Train 2015→25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194560"/>
            <a:ext cx="1920240" cy="201168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FORECAST UI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2030 hotspot map
Ward ranking
Action tips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C300"/>
                </a:solidFill>
                <a:latin typeface="Calibri"/>
              </a:rPr>
              <a:t>Core science:  NDVI = (NIR−Red)/(NIR+Red)    •    NDBI = (SWIR−NIR)/(SWIR+NIR)    •    UHI intensity = LST(urban) − LST(rural)</a:t>
            </a:r>
          </a:p>
          <a:p>
            <a:pPr algn="ctr"/>
            <a:r>
              <a:rPr sz="1200">
                <a:solidFill>
                  <a:srgbClr val="A0AEC0"/>
                </a:solidFill>
                <a:latin typeface="Calibri"/>
              </a:rPr>
              <a:t>LST from Landsat Band 10 → emissivity-corrected → ward-level time-series → ML forecast (full derivation in Appendix B1)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TECH STACK + DATA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100% free &amp; open stack — scalable to every Indian 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84048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Satellite processing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Google Earth Engine, Landsat 8/9, Sentinel-2, MODIS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Free petabyte-scale data, no downloads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Geo + ML pipeline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Python, rasterio / GDAL, scikit-learn, XGBoost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LST trends, drivers, ward forecasts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Streamlit / React + Leaflet maps, FastAPI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Hotspot maps + rankings for planners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Validation data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IMD weather, Bhuvan, ground sensors (if available)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Cross-check predicted hotspots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Calibri"/>
              </a:rPr>
              <a:t>Zero data cost  •  No proprietary software  •  Works for Tier-1, Tier-2 and Tier-3 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EXPECTED OUTPUT (PROPOSED PROTOTYPE)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What the planner sees: hotspot map + trend + ward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108960" cy="118872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E71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🔴  HIGH-RISK WARDS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LST ≥ 44 °C predicted by 2030
Action: cool roofs, plantations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3108960" cy="118872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🟡  WATCHLIST WARDS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Fastest-warming trend 2015→25
Action: protect green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3108960" cy="1188720"/>
          </a:xfrm>
          <a:prstGeom prst="roundRect">
            <a:avLst/>
          </a:prstGeom>
          <a:solidFill>
            <a:srgbClr val="1A2B45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 COOL / SAFE WARDS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EC0"/>
                </a:solidFill>
                <a:latin typeface="Calibri"/>
              </a:rPr>
              <a:t>Near lakes, parks, low built-up
Action: preserve, replicate model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023360" y="2011680"/>
          <a:ext cx="38404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38160" y="2011680"/>
          <a:ext cx="320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WARD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LST 2025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2030 RISK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Ward 12 — Industrial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43.8 °C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🔴 High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Ward 07 — Old City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42.4 °C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🔴 High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Ward 21 — Lake Side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38.1 °C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🟢 Low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23360" y="49834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0AEC0"/>
                </a:solidFill>
                <a:latin typeface="Calibri"/>
              </a:rPr>
              <a:t>ⓘ  Illustrative mockup with sample values — real values come from satellite pipeline after build.  *2030 = model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IMPLEMENTATION PLAN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From idea to working MVP in 4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83464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TASKS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 • Data (weeks 1–2)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GEE pipeline: Landsat LST 2015–25, Sentinel-2 land-use, ward boundaries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Clean LST time-series for 1 pilot city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 • Model (weeks 3–4)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Features (NDVI, NDBI, built-up %), train RF/XGBoost, validate vs IMD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2030 ward-level heat forecast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 • Dashboard (weeks 5–6)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Hotspot map + trends + rankings + action tips UI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Working planner dashboard (MVP)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 • Pilot &amp; scale (week 7+)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Validate with ground data, extend to 2nd city, Heat Action Plan report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Pilot report + multi-city template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IMPACT + USERS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Built for the people who shape Indian cities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Municipal corporations &amp; Smart City SPVs: </a:t>
            </a:r>
            <a:r>
              <a:rPr sz="1700">
                <a:solidFill>
                  <a:srgbClr val="FFFFFF"/>
                </a:solidFill>
                <a:latin typeface="Calibri"/>
              </a:rPr>
              <a:t>decide where to plant, where to pause concrete, where to mandate cool roofs.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Heat Action Plans (NDMA / IMD): </a:t>
            </a:r>
            <a:r>
              <a:rPr sz="1700">
                <a:solidFill>
                  <a:srgbClr val="FFFFFF"/>
                </a:solidFill>
                <a:latin typeface="Calibri"/>
              </a:rPr>
              <a:t>ward-level evidence for Ahmedabad-style plans in every heat-prone city.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Urban planners &amp; builders: </a:t>
            </a:r>
            <a:r>
              <a:rPr sz="1700">
                <a:solidFill>
                  <a:srgbClr val="FFFFFF"/>
                </a:solidFill>
                <a:latin typeface="Calibri"/>
              </a:rPr>
              <a:t>check heat impact of new layouts before approval — a 'heat NOC' layer.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Citizens: </a:t>
            </a:r>
            <a:r>
              <a:rPr sz="1700">
                <a:solidFill>
                  <a:srgbClr val="FFFFFF"/>
                </a:solidFill>
                <a:latin typeface="Calibri"/>
              </a:rPr>
              <a:t>cooler wards, lower power bills, safer summers for outdoor workers &amp; the elderly.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FFC300"/>
                </a:solidFill>
                <a:latin typeface="Calibri"/>
              </a:rPr>
              <a:t>▸  Scale of impact: </a:t>
            </a:r>
            <a:r>
              <a:rPr sz="1700">
                <a:solidFill>
                  <a:srgbClr val="FFFFFF"/>
                </a:solidFill>
                <a:latin typeface="Calibri"/>
              </a:rPr>
              <a:t>50+ Indian cities face severe UHI — one pipeline, replicated everywhere, at zero data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MEET THE TEAM</a:t>
            </a:r>
          </a:p>
          <a:p>
            <a:pPr algn="ctr">
              <a:spcBef>
                <a:spcPts val="600"/>
              </a:spcBef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1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Team Lead • ML + Pipeline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2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Remote Sensing • GEE + LST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3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Backend • API + Data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4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Frontend • Dashboard + Maps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5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Research • Planning + Validation</a:t>
            </a:r>
          </a:p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C300"/>
                </a:solidFill>
                <a:latin typeface="Calibri"/>
              </a:rPr>
              <a:t>[Member 6 — Name]  —  </a:t>
            </a:r>
            <a:r>
              <a:rPr sz="1400">
                <a:solidFill>
                  <a:srgbClr val="FFFFFF"/>
                </a:solidFill>
                <a:latin typeface="Calibri"/>
              </a:rPr>
              <a:t>Design • PPT + Demo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A0AEC0"/>
                </a:solidFill>
                <a:latin typeface="Calibri"/>
              </a:rPr>
              <a:t>Questions welcome  •  GitHub: [link]  •  Contact: [email]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APPENDIX B1 — SHOW ONLY IF ASKED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The maths: LST retrieval + UHI + forecast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Step 1 — Radiance:  </a:t>
            </a:r>
            <a:r>
              <a:rPr sz="1400">
                <a:solidFill>
                  <a:srgbClr val="FFFFFF"/>
                </a:solidFill>
                <a:latin typeface="Consolas"/>
              </a:rPr>
              <a:t>Lλ = ML × DN + AL   (ML, AL from Landsat metadata)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Step 2 — Brightness temp:  </a:t>
            </a:r>
            <a:r>
              <a:rPr sz="1400">
                <a:solidFill>
                  <a:srgbClr val="FFFFFF"/>
                </a:solidFill>
                <a:latin typeface="Consolas"/>
              </a:rPr>
              <a:t>BT = K2 / ln(K1/Lλ + 1) − 273.15   (K1, K2 band constants, °C)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Step 3 — Vegetation fraction:  </a:t>
            </a:r>
            <a:r>
              <a:rPr sz="1400">
                <a:solidFill>
                  <a:srgbClr val="FFFFFF"/>
                </a:solidFill>
                <a:latin typeface="Consolas"/>
              </a:rPr>
              <a:t>Pv = [(NDVI − NDVImin)/(NDVImax − NDVImin)]²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Step 4 — Emissivity:  </a:t>
            </a:r>
            <a:r>
              <a:rPr sz="1400">
                <a:solidFill>
                  <a:srgbClr val="FFFFFF"/>
                </a:solidFill>
                <a:latin typeface="Consolas"/>
              </a:rPr>
              <a:t>ε = 0.004 × Pv + 0.986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Step 5 — Final LST:  </a:t>
            </a:r>
            <a:r>
              <a:rPr sz="1400">
                <a:solidFill>
                  <a:srgbClr val="FFFFFF"/>
                </a:solidFill>
                <a:latin typeface="Consolas"/>
              </a:rPr>
              <a:t>LST = BT / [ 1 + (λ·BT/ρ)·ln(ε) ],  ρ = 1.4388×10⁻² m·K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UHI intensity:  </a:t>
            </a:r>
            <a:r>
              <a:rPr sz="1400">
                <a:solidFill>
                  <a:srgbClr val="FFFFFF"/>
                </a:solidFill>
                <a:latin typeface="Consolas"/>
              </a:rPr>
              <a:t>UHI = mean LST(urban wards) − mean LST(rural buffer)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Trend per pixel:  </a:t>
            </a:r>
            <a:r>
              <a:rPr sz="1400">
                <a:solidFill>
                  <a:srgbClr val="FFFFFF"/>
                </a:solidFill>
                <a:latin typeface="Consolas"/>
              </a:rPr>
              <a:t>slope of linear fit LST vs year, 2015–2025 (°C/year)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C300"/>
                </a:solidFill>
                <a:latin typeface="Consolas"/>
              </a:rPr>
              <a:t>▸  Forecast model:  </a:t>
            </a:r>
            <a:r>
              <a:rPr sz="1400">
                <a:solidFill>
                  <a:srgbClr val="FFFFFF"/>
                </a:solidFill>
                <a:latin typeface="Consolas"/>
              </a:rPr>
              <a:t>LST2030 = f(LST history, NDVI, NDBI, built-up %)  •  validated with RMSE &amp; R² vs IMD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EC0"/>
                </a:solidFill>
                <a:latin typeface="Calibri"/>
              </a:rPr>
              <a:t>HeatSight  •  Smart India Hackathon 2026  •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