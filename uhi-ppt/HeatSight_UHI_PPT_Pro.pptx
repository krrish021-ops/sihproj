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LST</c:v>
                </c:pt>
              </c:strCache>
            </c:strRef>
          </c:tx>
          <c:spPr>
            <a:ln w="31750">
              <a:solidFill>
                <a:srgbClr val="C2410C"/>
              </a:solidFill>
            </a:ln>
          </c:spPr>
          <c:marker>
            <c:symbol val="diamond"/>
            <c:size val="6"/>
            <c:spPr>
              <a:solidFill>
                <a:srgbClr val="C2410C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17</c:v>
                </c:pt>
                <c:pt idx="2">
                  <c:v>19</c:v>
                </c:pt>
                <c:pt idx="3">
                  <c:v>21</c:v>
                </c:pt>
                <c:pt idx="4">
                  <c:v>23</c:v>
                </c:pt>
                <c:pt idx="5">
                  <c:v>25</c:v>
                </c:pt>
                <c:pt idx="6">
                  <c:v>30*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38.2</c:v>
                </c:pt>
                <c:pt idx="1">
                  <c:v>39.1</c:v>
                </c:pt>
                <c:pt idx="2">
                  <c:v>40.0</c:v>
                </c:pt>
                <c:pt idx="3">
                  <c:v>40.8</c:v>
                </c:pt>
                <c:pt idx="4">
                  <c:v>42.1</c:v>
                </c:pt>
                <c:pt idx="5">
                  <c:v>43.0</c:v>
                </c:pt>
                <c:pt idx="6">
                  <c:v>44.6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Built-up</c:v>
                </c:pt>
              </c:strCache>
            </c:strRef>
          </c:tx>
          <c:spPr>
            <a:ln w="31750">
              <a:solidFill>
                <a:srgbClr val="334155"/>
              </a:solidFill>
            </a:ln>
          </c:spPr>
          <c:marker>
            <c:symbol val="diamond"/>
            <c:size val="6"/>
            <c:spPr>
              <a:solidFill>
                <a:srgbClr val="33415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17</c:v>
                </c:pt>
                <c:pt idx="2">
                  <c:v>19</c:v>
                </c:pt>
                <c:pt idx="3">
                  <c:v>21</c:v>
                </c:pt>
                <c:pt idx="4">
                  <c:v>23</c:v>
                </c:pt>
                <c:pt idx="5">
                  <c:v>25</c:v>
                </c:pt>
                <c:pt idx="6">
                  <c:v>30*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31</c:v>
                </c:pt>
                <c:pt idx="1">
                  <c:v>34</c:v>
                </c:pt>
                <c:pt idx="2">
                  <c:v>37</c:v>
                </c:pt>
                <c:pt idx="3">
                  <c:v>40</c:v>
                </c:pt>
                <c:pt idx="4">
                  <c:v>43</c:v>
                </c:pt>
                <c:pt idx="5">
                  <c:v>46</c:v>
                </c:pt>
                <c:pt idx="6">
                  <c:v>52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5.0"/>
          <c:min val="25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seconds. Land the one-liner: Indian cities run 3–7°C hotter than their villages, and planners have no forecast. HeatSight is that forecast.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seconds. Read the three stats, then the three rows fast. End on the question at the bottom — it tees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Left card: three things that exist. Right card: three things missing. Read the red bar verbatim — it's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seconds. Point at 01, 02, 03. End by reading the dark strip — judges remember one-liners.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 — the most important slide. Walk the five nodes left to right. One line on science: LST corrected with NDVI emissivity, NDBI tracks concrete, UHI is urban minus rural. Point to the appendix for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Stress FREE and SCALABLE — this answers the cost question before judges ask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Tour the product: KPIs on top, forecast map left, ward ranking right, trend strip below. Say honestly: concept UI, real values land once the satellite pipeline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Emphasize discipline: one pilot city, validated, then scale. Judges fear over-scoped projects — this calms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 — the winner slide. Name real users: municipality, Smart City mission, NDMA. Close with the scale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seconds. Read roles quickly, thank the judges, invite questions. Keep Appendix A ready for the maths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only. If asked how LST is computed, walk steps 1–5, then the UHI and forecast lines. Under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365760"/>
            <a:ext cx="4937760" cy="4937760"/>
          </a:xfrm>
          <a:prstGeom prst="ellipse">
            <a:avLst/>
          </a:prstGeom>
          <a:solidFill>
            <a:srgbClr val="7C2D1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188720"/>
            <a:ext cx="3749039" cy="3749039"/>
          </a:xfrm>
          <a:prstGeom prst="ellipse">
            <a:avLst/>
          </a:prstGeom>
          <a:solidFill>
            <a:srgbClr val="C2410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828800"/>
            <a:ext cx="2560320" cy="2560320"/>
          </a:xfrm>
          <a:prstGeom prst="ellipse">
            <a:avLst/>
          </a:prstGeom>
          <a:solidFill>
            <a:srgbClr val="F59E0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2377440"/>
            <a:ext cx="1371600" cy="1371600"/>
          </a:xfrm>
          <a:prstGeom prst="ellipse">
            <a:avLst/>
          </a:prstGeom>
          <a:solidFill>
            <a:srgbClr val="FDD6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81160" y="822960"/>
            <a:ext cx="4206240" cy="4206240"/>
          </a:xfrm>
          <a:prstGeom prst="ellipse">
            <a:avLst/>
          </a:prstGeom>
          <a:noFill/>
          <a:ln w="12700">
            <a:solidFill>
              <a:srgbClr val="A8A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29800" y="1371600"/>
            <a:ext cx="3108960" cy="3108960"/>
          </a:xfrm>
          <a:prstGeom prst="ellipse">
            <a:avLst/>
          </a:prstGeom>
          <a:noFill/>
          <a:ln w="12700">
            <a:solidFill>
              <a:srgbClr val="A8A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94944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spc="180">
                <a:solidFill>
                  <a:srgbClr val="F59E0B"/>
                </a:solidFill>
                <a:latin typeface="Segoe UI"/>
              </a:rPr>
              <a:t>SMART INDIA HACKATHON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6949440" cy="10972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600" b="1">
                <a:solidFill>
                  <a:srgbClr val="F5F2EA"/>
                </a:solidFill>
                <a:latin typeface="Segoe UI"/>
              </a:rPr>
              <a:t>HeatSight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95728"/>
            <a:ext cx="8229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6400800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F5F2EA"/>
                </a:solidFill>
                <a:latin typeface="Segoe UI"/>
              </a:rPr>
              <a:t>Forecasting urban heat islands for climate-smart Indian cities.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60350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8A29A"/>
                </a:solidFill>
                <a:latin typeface="Segoe UI"/>
              </a:rPr>
              <a:t>Satellite LST time-series  +  land-use intelligence  →  ward-level heat forecasts urban planners can act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502920" cy="146304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25880" y="4434840"/>
            <a:ext cx="502920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434840"/>
            <a:ext cx="502920" cy="146304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4434840"/>
            <a:ext cx="502920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4434840"/>
            <a:ext cx="502920" cy="146304"/>
          </a:xfrm>
          <a:prstGeom prst="rect">
            <a:avLst/>
          </a:prstGeom>
          <a:solidFill>
            <a:srgbClr val="FD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A8A29A"/>
                </a:solidFill>
                <a:latin typeface="Segoe UI"/>
              </a:rPr>
              <a:t>LAND SURFACE TEMPERATURE  ·  38°C  →  46°C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219456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F59E0B"/>
                </a:solidFill>
                <a:latin typeface="Segoe UI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5F2EA"/>
                </a:solidFill>
                <a:latin typeface="Segoe UI"/>
              </a:rPr>
              <a:t>[ Your Team Name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349240"/>
            <a:ext cx="219456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F59E0B"/>
                </a:solidFill>
                <a:latin typeface="Segoe UI"/>
              </a:rPr>
              <a:t>INSTITUTE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577840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5F2EA"/>
                </a:solidFill>
                <a:latin typeface="Segoe UI"/>
              </a:rPr>
              <a:t>[ College Name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5349240"/>
            <a:ext cx="219456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F59E0B"/>
                </a:solidFill>
                <a:latin typeface="Segoe UI"/>
              </a:rPr>
              <a:t>PROBLEM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577840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5F2EA"/>
                </a:solidFill>
                <a:latin typeface="Segoe UI"/>
              </a:rPr>
              <a:t>[ PS-ID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263640"/>
            <a:ext cx="10543032" cy="12801"/>
          </a:xfrm>
          <a:prstGeom prst="rect">
            <a:avLst/>
          </a:prstGeom>
          <a:solidFill>
            <a:srgbClr val="33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A8A29A"/>
                </a:solidFill>
                <a:latin typeface="Segoe UI"/>
              </a:rPr>
              <a:t>HEATSIGHT  ·  IDEA DECK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02  —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Indian cities are becoming heat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An urban heat island (UHI) keeps built-up zones 3–7 °C hotter than surrounding rural land — day and night.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288036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C2410C"/>
                </a:solidFill>
                <a:latin typeface="Segoe UI"/>
              </a:rPr>
              <a:t>50 °C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288036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recorded summer peaks
in Delhi, 2024–25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874519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993392"/>
            <a:ext cx="288036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C2410C"/>
                </a:solidFill>
                <a:latin typeface="Segoe UI"/>
              </a:rPr>
              <a:t>3–7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42032"/>
            <a:ext cx="288036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city-vs-village
temperature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1874519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993392"/>
            <a:ext cx="288036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C2410C"/>
                </a:solidFill>
                <a:latin typeface="Segoe UI"/>
              </a:rPr>
              <a:t>50 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542032"/>
            <a:ext cx="288036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Indian cities facing
severe UHI 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32004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2410C"/>
                </a:solidFill>
                <a:latin typeface="Segoe UI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02152"/>
            <a:ext cx="10561320" cy="6858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91C20"/>
                </a:solidFill>
                <a:latin typeface="Segoe UI"/>
              </a:rPr>
              <a:t>Concrete is replacing green cover.  </a:t>
            </a:r>
            <a:r>
              <a:rPr sz="1350" b="0">
                <a:solidFill>
                  <a:srgbClr val="6E6E6A"/>
                </a:solidFill>
                <a:latin typeface="Segoe UI"/>
              </a:rPr>
              <a:t>Rapid construction and shrinking lakes and parks trap daytime heat deep into the night.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33672"/>
            <a:ext cx="32004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2410C"/>
                </a:solidFill>
                <a:latin typeface="Segoe UI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15384"/>
            <a:ext cx="10561320" cy="6858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91C20"/>
                </a:solidFill>
                <a:latin typeface="Segoe UI"/>
              </a:rPr>
              <a:t>Health and energy bills are exploding.  </a:t>
            </a:r>
            <a:r>
              <a:rPr sz="1350" b="0">
                <a:solidFill>
                  <a:srgbClr val="6E6E6A"/>
                </a:solidFill>
                <a:latin typeface="Segoe UI"/>
              </a:rPr>
              <a:t>Heat-stroke cases, peak power demand and water stress spike every summer in dense wards.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46904"/>
            <a:ext cx="32004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2410C"/>
                </a:solidFill>
                <a:latin typeface="Segoe UI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28616"/>
            <a:ext cx="10561320" cy="6858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91C20"/>
                </a:solidFill>
                <a:latin typeface="Segoe UI"/>
              </a:rPr>
              <a:t>Planners are flying blind.  </a:t>
            </a:r>
            <a:r>
              <a:rPr sz="1350" b="0">
                <a:solidFill>
                  <a:srgbClr val="6E6E6A"/>
                </a:solidFill>
                <a:latin typeface="Segoe UI"/>
              </a:rPr>
              <a:t>No ward-level forecast exists of where heat will intensify next as the city grows.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806440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410C"/>
                </a:solidFill>
                <a:latin typeface="Segoe UI"/>
              </a:rPr>
              <a:t>The question no tool answers today:  which wards will overheat next?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03  — 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Temperature is reported. Heat islands are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What exists today — and why none of it helps a planner decide where to 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00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spc="150">
                <a:solidFill>
                  <a:srgbClr val="6E6E6A"/>
                </a:solidFill>
                <a:latin typeface="Segoe UI"/>
              </a:rPr>
              <a:t>WHAT EXISTS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80060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91C20"/>
                </a:solidFill>
                <a:latin typeface="Segoe UI"/>
              </a:rPr>
              <a:t>IMD &amp; weather apps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City-average air temperature. No land-surface detail, no ward split.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80060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91C20"/>
                </a:solidFill>
                <a:latin typeface="Segoe UI"/>
              </a:rPr>
              <a:t>Research papers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One-time LST maps as static PDFs. No forecast, no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80060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91C20"/>
                </a:solidFill>
                <a:latin typeface="Segoe UI"/>
              </a:rPr>
              <a:t>Smart-city dashboards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Track AQI and traffic. Heat intelligence: zero.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828800"/>
            <a:ext cx="5349240" cy="3291840"/>
          </a:xfrm>
          <a:prstGeom prst="roundRect">
            <a:avLst/>
          </a:prstGeom>
          <a:solidFill>
            <a:srgbClr val="141416"/>
          </a:solidFill>
          <a:ln w="12700">
            <a:solidFill>
              <a:srgbClr val="14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011680"/>
            <a:ext cx="4800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spc="150">
                <a:solidFill>
                  <a:srgbClr val="F59E0B"/>
                </a:solidFill>
                <a:latin typeface="Segoe UI"/>
              </a:rPr>
              <a:t>WHAT'S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23160"/>
            <a:ext cx="480060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5F2EA"/>
                </a:solidFill>
                <a:latin typeface="Segoe UI"/>
              </a:rPr>
              <a:t>Ward-level heat forecasts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8A29A"/>
                </a:solidFill>
                <a:latin typeface="Segoe UI"/>
              </a:rPr>
              <a:t>Which zones warm fastest as land use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200400"/>
            <a:ext cx="480060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5F2EA"/>
                </a:solidFill>
                <a:latin typeface="Segoe UI"/>
              </a:rPr>
              <a:t>A living, updating system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8A29A"/>
                </a:solidFill>
                <a:latin typeface="Segoe UI"/>
              </a:rPr>
              <a:t>New satellite passes in, fresh risk maps 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977639"/>
            <a:ext cx="480060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5F2EA"/>
                </a:solidFill>
                <a:latin typeface="Segoe UI"/>
              </a:rPr>
              <a:t>Planning-ready outputs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8A29A"/>
                </a:solidFill>
                <a:latin typeface="Segoe UI"/>
              </a:rPr>
              <a:t>Rankings and actions — not raw rasters and jargon.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10908792" cy="777240"/>
          </a:xfrm>
          <a:prstGeom prst="roundRect">
            <a:avLst/>
          </a:prstGeom>
          <a:solidFill>
            <a:srgbClr val="F7E3D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58968"/>
            <a:ext cx="10360152" cy="5486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91C1C"/>
                </a:solidFill>
                <a:latin typeface="Segoe UI"/>
              </a:rPr>
              <a:t>No open tool links satellite LST  +  land-use change  →  future hotspot forecasts.   That gap is HeatSight.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04  — 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HeatSight — a heat-forecast copilot for urban planners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Three capabilities, one pipeline, one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502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02152" cy="8229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103120"/>
            <a:ext cx="283464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2410C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2697480"/>
            <a:ext cx="2834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91C20"/>
                </a:solidFill>
                <a:latin typeface="Segoe UI"/>
              </a:rPr>
              <a:t>Map the past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3154680"/>
            <a:ext cx="2862072" cy="1371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A 10-year satellite record (2015–2025) of land-surface temperature and land-use change for every 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502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502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103120"/>
            <a:ext cx="283464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D97706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97480"/>
            <a:ext cx="2834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91C20"/>
                </a:solidFill>
                <a:latin typeface="Segoe UI"/>
              </a:rPr>
              <a:t>Forecast hotspots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154680"/>
            <a:ext cx="2862072" cy="1371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Machine learning projects 2030 heat-intensification zones as construction and concrete grow.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828800"/>
            <a:ext cx="3502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828800"/>
            <a:ext cx="3502152" cy="82296"/>
          </a:xfrm>
          <a:prstGeom prst="rect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103120"/>
            <a:ext cx="283464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E7C6B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697480"/>
            <a:ext cx="2834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91C20"/>
                </a:solidFill>
                <a:latin typeface="Segoe UI"/>
              </a:rPr>
              <a:t>Guide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3154680"/>
            <a:ext cx="2862072" cy="1371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E6A"/>
                </a:solidFill>
                <a:latin typeface="Segoe UI"/>
              </a:rPr>
              <a:t>Ward risk rankings plus concrete moves: plantations, cool roofs, lake revival, building norms.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10908792" cy="731520"/>
          </a:xfrm>
          <a:prstGeom prst="roundRect">
            <a:avLst/>
          </a:prstGeom>
          <a:solidFill>
            <a:srgbClr val="141416"/>
          </a:solidFill>
          <a:ln w="12700">
            <a:solidFill>
              <a:srgbClr val="14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10908792" cy="5486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F2EA"/>
                </a:solidFill>
                <a:latin typeface="Segoe UI"/>
              </a:rPr>
              <a:t>Past heat  +  land-use change   →   future hotspots   →   planning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05  —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From satellite pixels to planner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Five stages. Fully open data, fully reproducible.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487168"/>
            <a:ext cx="9354312" cy="32004"/>
          </a:xfrm>
          <a:prstGeom prst="rect">
            <a:avLst/>
          </a:prstGeom>
          <a:solidFill>
            <a:srgbClr val="DE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8935" y="2295144"/>
            <a:ext cx="384048" cy="38404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8935" y="2304288"/>
            <a:ext cx="384048" cy="3657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" y="2880360"/>
            <a:ext cx="199887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035808"/>
            <a:ext cx="1815998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spc="80">
                <a:solidFill>
                  <a:srgbClr val="C2410C"/>
                </a:solidFill>
                <a:latin typeface="Segoe UI"/>
              </a:rPr>
              <a:t>SATELLITE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01568"/>
            <a:ext cx="1815998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E6A"/>
                </a:solidFill>
                <a:latin typeface="Segoe UI"/>
              </a:rPr>
              <a:t>Landsat 8/9 LST
Sentinel-2 land use
MODIS · IMD</a:t>
            </a:r>
          </a:p>
        </p:txBody>
      </p:sp>
      <p:sp>
        <p:nvSpPr>
          <p:cNvPr id="15" name="Oval 14"/>
          <p:cNvSpPr/>
          <p:nvPr/>
        </p:nvSpPr>
        <p:spPr>
          <a:xfrm>
            <a:off x="3720693" y="2295144"/>
            <a:ext cx="384048" cy="38404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0693" y="2304288"/>
            <a:ext cx="384048" cy="3657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2410C"/>
                </a:solidFill>
                <a:latin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13278" y="2880360"/>
            <a:ext cx="199887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4718" y="3035808"/>
            <a:ext cx="1815998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spc="80">
                <a:solidFill>
                  <a:srgbClr val="C2410C"/>
                </a:solidFill>
                <a:latin typeface="Segoe UI"/>
              </a:rPr>
              <a:t>PREPROCESS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4718" y="3401568"/>
            <a:ext cx="1815998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E6A"/>
                </a:solidFill>
                <a:latin typeface="Segoe UI"/>
              </a:rPr>
              <a:t>Cloud masking
LST retrieval
Ward clipping</a:t>
            </a:r>
          </a:p>
        </p:txBody>
      </p:sp>
      <p:sp>
        <p:nvSpPr>
          <p:cNvPr id="20" name="Oval 19"/>
          <p:cNvSpPr/>
          <p:nvPr/>
        </p:nvSpPr>
        <p:spPr>
          <a:xfrm>
            <a:off x="5902452" y="2295144"/>
            <a:ext cx="384048" cy="38404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2452" y="2304288"/>
            <a:ext cx="384048" cy="3657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2410C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5036" y="2880360"/>
            <a:ext cx="199887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6476" y="3035808"/>
            <a:ext cx="1815998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spc="80">
                <a:solidFill>
                  <a:srgbClr val="C2410C"/>
                </a:solidFill>
                <a:latin typeface="Segoe UI"/>
              </a:rP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6476" y="3401568"/>
            <a:ext cx="1815998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E6A"/>
                </a:solidFill>
                <a:latin typeface="Segoe UI"/>
              </a:rPr>
              <a:t>LST trend
NDVI · NDBI
Built-up %</a:t>
            </a:r>
          </a:p>
        </p:txBody>
      </p:sp>
      <p:sp>
        <p:nvSpPr>
          <p:cNvPr id="25" name="Oval 24"/>
          <p:cNvSpPr/>
          <p:nvPr/>
        </p:nvSpPr>
        <p:spPr>
          <a:xfrm>
            <a:off x="8084210" y="2295144"/>
            <a:ext cx="384048" cy="38404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4210" y="2304288"/>
            <a:ext cx="384048" cy="3657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2410C"/>
                </a:solidFill>
                <a:latin typeface="Segoe U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6795" y="2880360"/>
            <a:ext cx="199887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8235" y="3035808"/>
            <a:ext cx="1815998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spc="80">
                <a:solidFill>
                  <a:srgbClr val="C2410C"/>
                </a:solidFill>
                <a:latin typeface="Segoe UI"/>
              </a:rPr>
              <a:t>ML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8235" y="3401568"/>
            <a:ext cx="1815998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E6A"/>
                </a:solidFill>
                <a:latin typeface="Segoe UI"/>
              </a:rPr>
              <a:t>Random Forest
XGBoost / LSTM
Train 2015 → 25</a:t>
            </a:r>
          </a:p>
        </p:txBody>
      </p:sp>
      <p:sp>
        <p:nvSpPr>
          <p:cNvPr id="30" name="Oval 29"/>
          <p:cNvSpPr/>
          <p:nvPr/>
        </p:nvSpPr>
        <p:spPr>
          <a:xfrm>
            <a:off x="10265968" y="2295144"/>
            <a:ext cx="384048" cy="38404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5968" y="2304288"/>
            <a:ext cx="384048" cy="3657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58553" y="2880360"/>
            <a:ext cx="199887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49993" y="3035808"/>
            <a:ext cx="1815998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spc="80">
                <a:solidFill>
                  <a:srgbClr val="C2410C"/>
                </a:solidFill>
                <a:latin typeface="Segoe UI"/>
              </a:rPr>
              <a:t>FORECAST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9993" y="3401568"/>
            <a:ext cx="1815998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E6A"/>
                </a:solidFill>
                <a:latin typeface="Segoe UI"/>
              </a:rPr>
              <a:t>2030 hotspot map
Ward ranking
Action tips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46320"/>
            <a:ext cx="109087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983480"/>
            <a:ext cx="10360152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spc="150">
                <a:solidFill>
                  <a:srgbClr val="6E6E6A"/>
                </a:solidFill>
                <a:latin typeface="Segoe UI"/>
              </a:rPr>
              <a:t>CORE SCIENCE  ·  FULL DERIVATION IN APPENDIX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91C20"/>
                </a:solidFill>
                <a:latin typeface="Consolas"/>
              </a:rPr>
              <a:t>NDVI = (NIR − Red) / (NIR + Red)      NDBI = (SWIR − NIR) / (SWIR + NIR)      UHI = LST(urban) − LST(rural)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06  —  STACK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An entirely open stack — built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Every dataset is free. Every tool is open-source. Any Indian city can be onboarded.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92807"/>
            <a:ext cx="1090879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" y="1965960"/>
          <a:ext cx="1068933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120640"/>
                <a:gridCol w="309981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950" b="1" spc="120">
                          <a:solidFill>
                            <a:srgbClr val="6E6E6A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spc="120">
                          <a:solidFill>
                            <a:srgbClr val="6E6E6A"/>
                          </a:solidFill>
                          <a:latin typeface="Segoe UI"/>
                        </a:rPr>
                        <a:t>TOOLS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spc="120">
                          <a:solidFill>
                            <a:srgbClr val="6E6E6A"/>
                          </a:solidFill>
                          <a:latin typeface="Segoe UI"/>
                        </a:rPr>
                        <a:t>WHY THIS CHOICE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C20"/>
                          </a:solidFill>
                          <a:latin typeface="Segoe UI"/>
                        </a:rPr>
                        <a:t>Satellite processing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Google Earth Engine · Landsat 8/9 · Sentinel-2 · MODIS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Petabyte-scale compute, zero downloads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C20"/>
                          </a:solidFill>
                          <a:latin typeface="Segoe UI"/>
                        </a:rPr>
                        <a:t>Geo + ML pipeline</a:t>
                      </a:r>
                    </a:p>
                  </a:txBody>
                  <a:tcPr anchor="ctr" marL="109728" marR="73152">
                    <a:solidFill>
                      <a:srgbClr val="EFED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Python · rasterio / GDAL · scikit-learn · XGBoost</a:t>
                      </a:r>
                    </a:p>
                  </a:txBody>
                  <a:tcPr anchor="ctr" marL="109728" marR="73152">
                    <a:solidFill>
                      <a:srgbClr val="EFED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LST trends, drivers, ward forecasts</a:t>
                      </a:r>
                    </a:p>
                  </a:txBody>
                  <a:tcPr anchor="ctr" marL="109728" marR="73152">
                    <a:solidFill>
                      <a:srgbClr val="EFED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C20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Streamlit / React + Leaflet · FastAPI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Hotspot maps + rankings for planners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C20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 anchor="ctr" marL="109728" marR="73152">
                    <a:solidFill>
                      <a:srgbClr val="EFED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IMD observations · Bhuvan · ground sensors</a:t>
                      </a:r>
                    </a:p>
                  </a:txBody>
                  <a:tcPr anchor="ctr" marL="109728" marR="73152">
                    <a:solidFill>
                      <a:srgbClr val="EFED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91C20"/>
                          </a:solidFill>
                          <a:latin typeface="Segoe UI"/>
                        </a:rPr>
                        <a:t>Independent cross-check of hotspots</a:t>
                      </a:r>
                    </a:p>
                  </a:txBody>
                  <a:tcPr anchor="ctr" marL="109728" marR="73152"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257800"/>
            <a:ext cx="10908792" cy="777240"/>
          </a:xfrm>
          <a:prstGeom prst="roundRect">
            <a:avLst/>
          </a:prstGeom>
          <a:solidFill>
            <a:srgbClr val="DCEFE9"/>
          </a:solidFill>
          <a:ln w="12700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358384"/>
            <a:ext cx="10908792" cy="5486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E7C6B"/>
                </a:solidFill>
                <a:latin typeface="Segoe UI"/>
              </a:rPr>
              <a:t>Zero data cost   ·   No proprietary software   ·   Tier-1, Tier-2 and Tier-3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07  — 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What the planner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Concept UI for the pilot city dashboard — proposed layout, sample values for illustration.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08792" cy="4434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01368"/>
            <a:ext cx="10872216" cy="365760"/>
          </a:xfrm>
          <a:prstGeom prst="rect">
            <a:avLst/>
          </a:prstGeom>
          <a:solidFill>
            <a:srgbClr val="EF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118872" cy="118872"/>
          </a:xfrm>
          <a:prstGeom prst="ellipse">
            <a:avLst/>
          </a:prstGeom>
          <a:solidFill>
            <a:srgbClr val="D4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1920240"/>
            <a:ext cx="118872" cy="118872"/>
          </a:xfrm>
          <a:prstGeom prst="ellipse">
            <a:avLst/>
          </a:prstGeom>
          <a:solidFill>
            <a:srgbClr val="E0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1920240"/>
            <a:ext cx="118872" cy="118872"/>
          </a:xfrm>
          <a:prstGeom prst="ellipse">
            <a:avLst/>
          </a:prstGeom>
          <a:solidFill>
            <a:srgbClr val="6FA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1883664"/>
            <a:ext cx="329184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892807"/>
            <a:ext cx="3291840" cy="2194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E6E6A"/>
                </a:solidFill>
                <a:latin typeface="Segoe UI"/>
              </a:rPr>
              <a:t>heatsight · dashboard — Nagpur pilot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185416"/>
            <a:ext cx="1810512" cy="4014215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350008"/>
            <a:ext cx="1463040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spc="100">
                <a:solidFill>
                  <a:srgbClr val="F5F2EA"/>
                </a:solidFill>
                <a:latin typeface="Segoe UI"/>
              </a:rPr>
              <a:t>◉  HEATSIGHT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743200"/>
            <a:ext cx="1609344" cy="292608"/>
          </a:xfrm>
          <a:prstGeom prst="round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7" y="282092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761488"/>
            <a:ext cx="123444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5F2EA"/>
                </a:solidFill>
                <a:latin typeface="Segoe UI"/>
              </a:rPr>
              <a:t>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3145536"/>
            <a:ext cx="123444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8A29A"/>
                </a:solidFill>
                <a:latin typeface="Segoe UI"/>
              </a:rPr>
              <a:t>Hotspot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7" y="3529584"/>
            <a:ext cx="123444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8A29A"/>
                </a:solidFill>
                <a:latin typeface="Segoe UI"/>
              </a:rPr>
              <a:t>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7" y="3913631"/>
            <a:ext cx="123444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8A29A"/>
                </a:solidFill>
                <a:latin typeface="Segoe UI"/>
              </a:rPr>
              <a:t>Ward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7" y="4297679"/>
            <a:ext cx="1234440" cy="25603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8A29A"/>
                </a:solidFill>
                <a:latin typeface="Segoe UI"/>
              </a:rPr>
              <a:t>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7" y="5715000"/>
            <a:ext cx="1426464" cy="292608"/>
          </a:xfrm>
          <a:prstGeom prst="roundRect">
            <a:avLst/>
          </a:prstGeom>
          <a:noFill/>
          <a:ln w="9525">
            <a:solidFill>
              <a:srgbClr val="A8A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724144"/>
            <a:ext cx="1426464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spc="80">
                <a:solidFill>
                  <a:srgbClr val="A8A29A"/>
                </a:solidFill>
                <a:latin typeface="Segoe UI"/>
              </a:rPr>
              <a:t>PLANNER LOGIN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33472" y="2331720"/>
            <a:ext cx="2843784" cy="658368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2386584"/>
            <a:ext cx="2587752" cy="1828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spc="80">
                <a:solidFill>
                  <a:srgbClr val="6E6E6A"/>
                </a:solidFill>
                <a:latin typeface="Segoe UI"/>
              </a:rPr>
              <a:t>MEAN SUMMER LST ·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2551176"/>
            <a:ext cx="11887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91C20"/>
                </a:solidFill>
                <a:latin typeface="Segoe UI"/>
              </a:rPr>
              <a:t>41.6 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9352" y="2624328"/>
            <a:ext cx="1380743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410C"/>
                </a:solidFill>
                <a:latin typeface="Segoe UI"/>
              </a:rPr>
              <a:t>+2.4° since 2015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86984" y="2331720"/>
            <a:ext cx="2843784" cy="658368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2386584"/>
            <a:ext cx="2587752" cy="1828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spc="80">
                <a:solidFill>
                  <a:srgbClr val="6E6E6A"/>
                </a:solidFill>
                <a:latin typeface="Segoe UI"/>
              </a:rPr>
              <a:t>HOTSPOT WARDS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2551176"/>
            <a:ext cx="11887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91C20"/>
                </a:solidFill>
                <a:latin typeface="Segoe UI"/>
              </a:rPr>
              <a:t>14 / 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2864" y="2624328"/>
            <a:ext cx="1380743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B91C1C"/>
                </a:solidFill>
                <a:latin typeface="Segoe UI"/>
              </a:rPr>
              <a:t>5 new since 2020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0496" y="2331720"/>
            <a:ext cx="2843784" cy="658368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2386584"/>
            <a:ext cx="2587752" cy="1828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spc="80">
                <a:solidFill>
                  <a:srgbClr val="6E6E6A"/>
                </a:solidFill>
                <a:latin typeface="Segoe UI"/>
              </a:rPr>
              <a:t>GREEN COVER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2551176"/>
            <a:ext cx="11887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91C20"/>
                </a:solidFill>
                <a:latin typeface="Segoe UI"/>
              </a:rPr>
              <a:t>11.2 %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6376" y="2624328"/>
            <a:ext cx="1380743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E7C6B"/>
                </a:solidFill>
                <a:latin typeface="Segoe UI"/>
              </a:rPr>
              <a:t>−3.1 pts since 2015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33472" y="3136391"/>
            <a:ext cx="5075468" cy="1874519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79776" y="3227832"/>
            <a:ext cx="2926080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00">
                <a:solidFill>
                  <a:srgbClr val="191C20"/>
                </a:solidFill>
                <a:latin typeface="Segoe UI"/>
              </a:rPr>
              <a:t>NAGPUR  ·  2030 FORECAST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74500" y="3209544"/>
            <a:ext cx="1088136" cy="237744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4500" y="3218687"/>
            <a:ext cx="1088136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HIGH RISK · 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9776" y="3547872"/>
            <a:ext cx="2148840" cy="658368"/>
          </a:xfrm>
          <a:prstGeom prst="roundRect">
            <a:avLst/>
          </a:prstGeom>
          <a:solidFill>
            <a:srgbClr val="F7E3D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71216" y="3602736"/>
            <a:ext cx="19659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91C20"/>
                </a:solidFill>
                <a:latin typeface="Segoe UI"/>
              </a:rPr>
              <a:t>Industrial belt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E6E6A"/>
                </a:solidFill>
                <a:latin typeface="Segoe UI"/>
              </a:rPr>
              <a:t>W-12 · 44.6°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56632" y="3547872"/>
            <a:ext cx="1783080" cy="658368"/>
          </a:xfrm>
          <a:prstGeom prst="roundRect">
            <a:avLst/>
          </a:prstGeom>
          <a:solidFill>
            <a:srgbClr val="F8EC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48072" y="3602736"/>
            <a:ext cx="1600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91C20"/>
                </a:solidFill>
                <a:latin typeface="Segoe UI"/>
              </a:rPr>
              <a:t>Old city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E6E6A"/>
                </a:solidFill>
                <a:latin typeface="Segoe UI"/>
              </a:rPr>
              <a:t>W-07 · 43.1°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79776" y="4297679"/>
            <a:ext cx="1508760" cy="566928"/>
          </a:xfrm>
          <a:prstGeom prst="roundRect">
            <a:avLst/>
          </a:prstGeom>
          <a:solidFill>
            <a:srgbClr val="F8EC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71216" y="4352543"/>
            <a:ext cx="13258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91C20"/>
                </a:solidFill>
                <a:latin typeface="Segoe UI"/>
              </a:rPr>
              <a:t>Market dist.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E6E6A"/>
                </a:solidFill>
                <a:latin typeface="Segoe UI"/>
              </a:rPr>
              <a:t>W-03 · 41.8°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6552" y="4297679"/>
            <a:ext cx="2423160" cy="566928"/>
          </a:xfrm>
          <a:prstGeom prst="roundRect">
            <a:avLst/>
          </a:prstGeom>
          <a:solidFill>
            <a:srgbClr val="DCEFE9"/>
          </a:solidFill>
          <a:ln w="12700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4352543"/>
            <a:ext cx="2240279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91C20"/>
                </a:solidFill>
                <a:latin typeface="Segoe UI"/>
              </a:rPr>
              <a:t>Lake side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E6E6A"/>
                </a:solidFill>
                <a:latin typeface="Segoe UI"/>
              </a:rPr>
              <a:t>W-21 · 38.4°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55244" y="3136391"/>
            <a:ext cx="3529035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548" y="3227832"/>
            <a:ext cx="3236427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00">
                <a:solidFill>
                  <a:srgbClr val="191C20"/>
                </a:solidFill>
                <a:latin typeface="Segoe UI"/>
              </a:rPr>
              <a:t>WARD RISK RANKING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548" y="3520439"/>
            <a:ext cx="2111715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91C20"/>
                </a:solidFill>
                <a:latin typeface="Segoe UI"/>
              </a:rPr>
              <a:t>W-12 · Industrial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85832" y="3520439"/>
            <a:ext cx="566928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E6E6A"/>
                </a:solidFill>
                <a:latin typeface="Segoe UI"/>
              </a:rPr>
              <a:t>43.8°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25911" y="3538727"/>
            <a:ext cx="512064" cy="201168"/>
          </a:xfrm>
          <a:prstGeom prst="roundRect">
            <a:avLst/>
          </a:prstGeom>
          <a:solidFill>
            <a:srgbClr val="F7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25911" y="3538727"/>
            <a:ext cx="512064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01548" y="3813048"/>
            <a:ext cx="3236427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01548" y="3849624"/>
            <a:ext cx="2111715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91C20"/>
                </a:solidFill>
                <a:latin typeface="Segoe UI"/>
              </a:rPr>
              <a:t>W-07 · Old city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85832" y="3849624"/>
            <a:ext cx="566928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E6E6A"/>
                </a:solidFill>
                <a:latin typeface="Segoe UI"/>
              </a:rPr>
              <a:t>42.4°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25911" y="3867911"/>
            <a:ext cx="512064" cy="201168"/>
          </a:xfrm>
          <a:prstGeom prst="roundRect">
            <a:avLst/>
          </a:prstGeom>
          <a:solidFill>
            <a:srgbClr val="F7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5911" y="3867911"/>
            <a:ext cx="512064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548" y="4142232"/>
            <a:ext cx="3236427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01548" y="4178808"/>
            <a:ext cx="2111715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91C20"/>
                </a:solidFill>
                <a:latin typeface="Segoe UI"/>
              </a:rPr>
              <a:t>W-03 · Market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85832" y="4178808"/>
            <a:ext cx="566928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E6E6A"/>
                </a:solidFill>
                <a:latin typeface="Segoe UI"/>
              </a:rPr>
              <a:t>40.9°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725911" y="4197096"/>
            <a:ext cx="512064" cy="201168"/>
          </a:xfrm>
          <a:prstGeom prst="roundRect">
            <a:avLst/>
          </a:prstGeom>
          <a:solidFill>
            <a:srgbClr val="F8E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25911" y="4197096"/>
            <a:ext cx="512064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D97706"/>
                </a:solidFill>
                <a:latin typeface="Segoe UI"/>
              </a:rPr>
              <a:t>MED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1548" y="4471416"/>
            <a:ext cx="3236427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01548" y="4507992"/>
            <a:ext cx="2111715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91C20"/>
                </a:solidFill>
                <a:latin typeface="Segoe UI"/>
              </a:rPr>
              <a:t>W-21 · Lake side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85832" y="4507992"/>
            <a:ext cx="566928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E6E6A"/>
                </a:solidFill>
                <a:latin typeface="Segoe UI"/>
              </a:rPr>
              <a:t>38.1°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25911" y="4526280"/>
            <a:ext cx="512064" cy="201168"/>
          </a:xfrm>
          <a:prstGeom prst="round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25911" y="4526280"/>
            <a:ext cx="512064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E7C6B"/>
                </a:solidFill>
                <a:latin typeface="Segoe UI"/>
              </a:rPr>
              <a:t>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33472" y="5120640"/>
            <a:ext cx="4114800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00">
                <a:solidFill>
                  <a:srgbClr val="191C20"/>
                </a:solidFill>
                <a:latin typeface="Segoe UI"/>
              </a:rPr>
              <a:t>MEAN SUMMER LST  vs  BUILT-UP %  ·  2015 → 2030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39912" y="5166359"/>
            <a:ext cx="164592" cy="10972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50224" y="5129783"/>
            <a:ext cx="1005840" cy="1828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E6E6A"/>
                </a:solidFill>
                <a:latin typeface="Segoe UI"/>
              </a:rPr>
              <a:t>LST (°C)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37192" y="5166359"/>
            <a:ext cx="164592" cy="1097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7504" y="5129783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E6E6A"/>
                </a:solidFill>
                <a:latin typeface="Segoe UI"/>
              </a:rPr>
              <a:t>Built-up %</a:t>
            </a:r>
          </a:p>
        </p:txBody>
      </p:sp>
      <p:graphicFrame>
        <p:nvGraphicFramePr>
          <p:cNvPr id="77" name="Chart 76"/>
          <p:cNvGraphicFramePr>
            <a:graphicFrameLocks noGrp="1"/>
          </p:cNvGraphicFramePr>
          <p:nvPr/>
        </p:nvGraphicFramePr>
        <p:xfrm>
          <a:off x="2633472" y="5340095"/>
          <a:ext cx="8750808" cy="731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640080" y="6272784"/>
            <a:ext cx="10908792" cy="228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E6E6A"/>
                </a:solidFill>
                <a:latin typeface="Segoe UI"/>
              </a:rPr>
              <a:t>Concept UI mockup · sample values for illustration  ·  *2030 = model forecast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08  — 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From idea to working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One city first, validated properly — then a repeatable template for every city.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965960"/>
            <a:ext cx="9445752" cy="32004"/>
          </a:xfrm>
          <a:prstGeom prst="rect">
            <a:avLst/>
          </a:prstGeom>
          <a:solidFill>
            <a:srgbClr val="DE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65376" y="1865376"/>
            <a:ext cx="201168" cy="20116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26517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468880"/>
            <a:ext cx="2194560" cy="310896"/>
          </a:xfrm>
          <a:prstGeom prst="round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78024"/>
            <a:ext cx="2194560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spc="60">
                <a:solidFill>
                  <a:srgbClr val="F5F2EA"/>
                </a:solidFill>
                <a:latin typeface="Segoe UI"/>
              </a:rPr>
              <a:t>PHASE 1 · WK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91C20"/>
                </a:solidFill>
                <a:latin typeface="Segoe UI"/>
              </a:rPr>
              <a:t>Data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21945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E6E6A"/>
                </a:solidFill>
                <a:latin typeface="Segoe UI"/>
              </a:rPr>
              <a:t>GEE: Landsat LST 2015–25, Sentinel-2 land use, ward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434840"/>
            <a:ext cx="2194560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219456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7C6B"/>
                </a:solidFill>
                <a:latin typeface="Segoe UI"/>
              </a:rPr>
              <a:t>→  </a:t>
            </a:r>
            <a:r>
              <a:rPr sz="1050" b="1">
                <a:solidFill>
                  <a:srgbClr val="191C20"/>
                </a:solidFill>
                <a:latin typeface="Segoe UI"/>
              </a:rPr>
              <a:t>Clean time-series for pilot city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186537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38144" y="2240280"/>
            <a:ext cx="26517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66744" y="2468880"/>
            <a:ext cx="2194560" cy="310896"/>
          </a:xfrm>
          <a:prstGeom prst="roundRect">
            <a:avLst/>
          </a:prstGeom>
          <a:solidFill>
            <a:srgbClr val="EF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6744" y="2478024"/>
            <a:ext cx="2194560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spc="60">
                <a:solidFill>
                  <a:srgbClr val="6E6E6A"/>
                </a:solidFill>
                <a:latin typeface="Segoe UI"/>
              </a:rPr>
              <a:t>PHASE 2 · WK 3–4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880360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91C20"/>
                </a:solidFill>
                <a:latin typeface="Segoe UI"/>
              </a:rPr>
              <a:t>Model &amp;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3291840"/>
            <a:ext cx="21945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E6E6A"/>
                </a:solidFill>
                <a:latin typeface="Segoe UI"/>
              </a:rPr>
              <a:t>Engineer NDVI / NDBI / built-up features; train RF + XGBoost.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66744" y="4434840"/>
            <a:ext cx="2194560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66744" y="4572000"/>
            <a:ext cx="219456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7C6B"/>
                </a:solidFill>
                <a:latin typeface="Segoe UI"/>
              </a:rPr>
              <a:t>→  </a:t>
            </a:r>
            <a:r>
              <a:rPr sz="1050" b="1">
                <a:solidFill>
                  <a:srgbClr val="191C20"/>
                </a:solidFill>
                <a:latin typeface="Segoe UI"/>
              </a:rPr>
              <a:t>2030 ward forecast, IMD-checked</a:t>
            </a:r>
          </a:p>
        </p:txBody>
      </p:sp>
      <p:sp>
        <p:nvSpPr>
          <p:cNvPr id="26" name="Oval 25"/>
          <p:cNvSpPr/>
          <p:nvPr/>
        </p:nvSpPr>
        <p:spPr>
          <a:xfrm>
            <a:off x="7461504" y="186537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2240280"/>
            <a:ext cx="26517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64808" y="2468880"/>
            <a:ext cx="2194560" cy="310896"/>
          </a:xfrm>
          <a:prstGeom prst="roundRect">
            <a:avLst/>
          </a:prstGeom>
          <a:solidFill>
            <a:srgbClr val="EF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478024"/>
            <a:ext cx="2194560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spc="60">
                <a:solidFill>
                  <a:srgbClr val="6E6E6A"/>
                </a:solidFill>
                <a:latin typeface="Segoe UI"/>
              </a:rPr>
              <a:t>PHASE 3 · WK 5–6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2880360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91C20"/>
                </a:solidFill>
                <a:latin typeface="Segoe UI"/>
              </a:rPr>
              <a:t>Dashboard MVP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291840"/>
            <a:ext cx="21945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E6E6A"/>
                </a:solidFill>
                <a:latin typeface="Segoe UI"/>
              </a:rPr>
              <a:t>Hotspot map, trends, rankings and action tips in one UI.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4808" y="4434840"/>
            <a:ext cx="2194560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4572000"/>
            <a:ext cx="219456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7C6B"/>
                </a:solidFill>
                <a:latin typeface="Segoe UI"/>
              </a:rPr>
              <a:t>→  </a:t>
            </a:r>
            <a:r>
              <a:rPr sz="1050" b="1">
                <a:solidFill>
                  <a:srgbClr val="191C20"/>
                </a:solidFill>
                <a:latin typeface="Segoe UI"/>
              </a:rPr>
              <a:t>Working planner dashboard</a:t>
            </a:r>
          </a:p>
        </p:txBody>
      </p:sp>
      <p:sp>
        <p:nvSpPr>
          <p:cNvPr id="34" name="Oval 33"/>
          <p:cNvSpPr/>
          <p:nvPr/>
        </p:nvSpPr>
        <p:spPr>
          <a:xfrm>
            <a:off x="10259567" y="186537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34272" y="2240280"/>
            <a:ext cx="26517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62872" y="2468880"/>
            <a:ext cx="2194560" cy="310896"/>
          </a:xfrm>
          <a:prstGeom prst="roundRect">
            <a:avLst/>
          </a:prstGeom>
          <a:solidFill>
            <a:srgbClr val="EF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2872" y="2478024"/>
            <a:ext cx="2194560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 spc="60">
                <a:solidFill>
                  <a:srgbClr val="6E6E6A"/>
                </a:solidFill>
                <a:latin typeface="Segoe UI"/>
              </a:rPr>
              <a:t>PHASE 4 · WK 7+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2880360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91C20"/>
                </a:solidFill>
                <a:latin typeface="Segoe UI"/>
              </a:rPr>
              <a:t>Pilot &amp;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3291840"/>
            <a:ext cx="21945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E6E6A"/>
                </a:solidFill>
                <a:latin typeface="Segoe UI"/>
              </a:rPr>
              <a:t>Ground-truth validation, second city, Heat Action Plan report.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62872" y="4434840"/>
            <a:ext cx="2194560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4572000"/>
            <a:ext cx="219456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7C6B"/>
                </a:solidFill>
                <a:latin typeface="Segoe UI"/>
              </a:rPr>
              <a:t>→  </a:t>
            </a:r>
            <a:r>
              <a:rPr sz="1050" b="1">
                <a:solidFill>
                  <a:srgbClr val="191C20"/>
                </a:solidFill>
                <a:latin typeface="Segoe UI"/>
              </a:rPr>
              <a:t>Pilot report + city template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09  —  IMPACT &amp;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Built for the people who shape Indian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686800" cy="38404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E6A"/>
                </a:solidFill>
                <a:latin typeface="Segoe UI"/>
              </a:rPr>
              <a:t>A forecast is only useful if the right hands hold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URBAN HEAT ISLAND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30759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C2410C"/>
                </a:solidFill>
                <a:latin typeface="Segoe UI"/>
              </a:rPr>
              <a:t>MUNICIPAL CORPORATIONS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37943"/>
            <a:ext cx="772667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91C20"/>
                </a:solidFill>
                <a:latin typeface="Segoe UI"/>
              </a:rPr>
              <a:t>Decide where to plant, where to pause concrete, and where to mandate cool roofs — ward by ward.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7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79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C2410C"/>
                </a:solidFill>
                <a:latin typeface="Segoe UI"/>
              </a:rPr>
              <a:t>HEAT ACTION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60903"/>
            <a:ext cx="772667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91C20"/>
                </a:solidFill>
                <a:latin typeface="Segoe UI"/>
              </a:rPr>
              <a:t>Give NDMA and IMD ward-level evidence to extend Ahmedabad-style plans to every heat-prone city.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55848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D97706"/>
                </a:solidFill>
                <a:latin typeface="Segoe UI"/>
              </a:rPr>
              <a:t>PLANNERS &amp; BUILDERS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83864"/>
            <a:ext cx="772667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91C20"/>
                </a:solidFill>
                <a:latin typeface="Segoe UI"/>
              </a:rPr>
              <a:t>Check the heat impact of new layouts before approval — a future “heat NOC”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78808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0E7C6B"/>
                </a:solidFill>
                <a:latin typeface="Segoe UI"/>
              </a:rPr>
              <a:t>CITIZENS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306824"/>
            <a:ext cx="772667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91C20"/>
                </a:solidFill>
                <a:latin typeface="Segoe UI"/>
              </a:rPr>
              <a:t>Cooler wards, lower power bills, safer summers for outdoor workers and the elderly.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01768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908792" cy="777240"/>
          </a:xfrm>
          <a:prstGeom prst="roundRect">
            <a:avLst/>
          </a:prstGeom>
          <a:solidFill>
            <a:srgbClr val="141416"/>
          </a:solidFill>
          <a:ln w="12700">
            <a:solidFill>
              <a:srgbClr val="14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22392"/>
            <a:ext cx="10908792" cy="5943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F2EA"/>
                </a:solidFill>
                <a:latin typeface="Segoe UI"/>
              </a:rPr>
              <a:t>50+ cities face severe UHI  ·  one pipeline, replicated everywhere  ·  zero data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394960"/>
            <a:ext cx="8229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585216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600" b="1">
                <a:solidFill>
                  <a:srgbClr val="F5F2EA"/>
                </a:solidFill>
                <a:latin typeface="Segoe U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58521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8A29A"/>
                </a:solidFill>
                <a:latin typeface="Segoe UI"/>
              </a:rPr>
              <a:t>Questions and discussion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5852160" cy="12801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8A29A"/>
                </a:solidFill>
                <a:latin typeface="Segoe UI"/>
              </a:rPr>
              <a:t>HeatSight turns a decade of satellite heat data into the one thing planners lack — a forecast of where their city will overheat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2468880" cy="402336"/>
          </a:xfrm>
          <a:prstGeom prst="roundRect">
            <a:avLst/>
          </a:prstGeom>
          <a:noFill/>
          <a:ln w="11430">
            <a:solidFill>
              <a:srgbClr val="A8A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15968"/>
            <a:ext cx="2468880" cy="3657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spc="60">
                <a:solidFill>
                  <a:srgbClr val="A8A29A"/>
                </a:solidFill>
                <a:latin typeface="Segoe UI"/>
              </a:rPr>
              <a:t>GITHUB  ·  [ link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297680"/>
            <a:ext cx="2468880" cy="402336"/>
          </a:xfrm>
          <a:prstGeom prst="roundRect">
            <a:avLst/>
          </a:prstGeom>
          <a:noFill/>
          <a:ln w="11430">
            <a:solidFill>
              <a:srgbClr val="A8A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315968"/>
            <a:ext cx="2468880" cy="36576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spc="60">
                <a:solidFill>
                  <a:srgbClr val="A8A29A"/>
                </a:solidFill>
                <a:latin typeface="Segoe UI"/>
              </a:rPr>
              <a:t>CONTACT  ·  [ email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822960"/>
            <a:ext cx="4434840" cy="5166360"/>
          </a:xfrm>
          <a:prstGeom prst="roundRect">
            <a:avLst/>
          </a:prstGeom>
          <a:solidFill>
            <a:srgbClr val="1D1D20"/>
          </a:solidFill>
          <a:ln w="12700">
            <a:solidFill>
              <a:srgbClr val="333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097280"/>
            <a:ext cx="370332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spc="160">
                <a:solidFill>
                  <a:srgbClr val="F59E0B"/>
                </a:solidFill>
                <a:latin typeface="Segoe UI"/>
              </a:rPr>
              <a:t>THE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370332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5F2EA"/>
                </a:solidFill>
                <a:latin typeface="Segoe UI"/>
              </a:rPr>
              <a:t>[ Member 1 ]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A8A29A"/>
                </a:solidFill>
                <a:latin typeface="Segoe UI"/>
              </a:rPr>
              <a:t>Team Lead · ML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76272"/>
            <a:ext cx="370332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5F2EA"/>
                </a:solidFill>
                <a:latin typeface="Segoe UI"/>
              </a:rPr>
              <a:t>[ Member 2 ]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A8A29A"/>
                </a:solidFill>
                <a:latin typeface="Segoe UI"/>
              </a:rPr>
              <a:t>Remote Sensing · GEE &amp; LST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98064"/>
            <a:ext cx="370332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5F2EA"/>
                </a:solidFill>
                <a:latin typeface="Segoe UI"/>
              </a:rPr>
              <a:t>[ Member 3 ]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A8A29A"/>
                </a:solidFill>
                <a:latin typeface="Segoe UI"/>
              </a:rPr>
              <a:t>Backend · API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419856"/>
            <a:ext cx="370332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5F2EA"/>
                </a:solidFill>
                <a:latin typeface="Segoe UI"/>
              </a:rPr>
              <a:t>[ Member 4 ]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A8A29A"/>
                </a:solidFill>
                <a:latin typeface="Segoe UI"/>
              </a:rPr>
              <a:t>Frontend · Dashboard &amp;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041648"/>
            <a:ext cx="370332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5F2EA"/>
                </a:solidFill>
                <a:latin typeface="Segoe UI"/>
              </a:rPr>
              <a:t>[ Member 5 ]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A8A29A"/>
                </a:solidFill>
                <a:latin typeface="Segoe UI"/>
              </a:rPr>
              <a:t>Research · Planning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663440"/>
            <a:ext cx="370332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5F2EA"/>
                </a:solidFill>
                <a:latin typeface="Segoe UI"/>
              </a:rPr>
              <a:t>[ Member 6 ]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A8A29A"/>
                </a:solidFill>
                <a:latin typeface="Segoe UI"/>
              </a:rPr>
              <a:t>Design · Demo &amp; Deck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63640"/>
            <a:ext cx="10543032" cy="12801"/>
          </a:xfrm>
          <a:prstGeom prst="rect">
            <a:avLst/>
          </a:prstGeom>
          <a:solidFill>
            <a:srgbClr val="33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A8A29A"/>
                </a:solidFill>
                <a:latin typeface="Segoe UI"/>
              </a:rPr>
              <a:t>HEATSIGHT  ·  IDEA DECK  ·  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-137160"/>
            <a:ext cx="2377440" cy="1737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0" b="1">
                <a:solidFill>
                  <a:srgbClr val="E7E3D9"/>
                </a:solidFill>
                <a:latin typeface="Segoe UI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spc="150">
                <a:solidFill>
                  <a:srgbClr val="C2410C"/>
                </a:solidFill>
                <a:latin typeface="Segoe UI"/>
              </a:rPr>
              <a:t>APPENDIX A  —  SHOW ONLY IF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68680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91C20"/>
                </a:solidFill>
                <a:latin typeface="Segoe UI"/>
              </a:rPr>
              <a:t>The maths: LST retrieval and forecast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630936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spc="120">
                <a:solidFill>
                  <a:srgbClr val="6E6E6A"/>
                </a:solidFill>
                <a:latin typeface="Segoe UI"/>
              </a:rPr>
              <a:t>LANDSAT LST RETRIEVAL  ·  COLLECTION 2, BAND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6309360" cy="33832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1   Radiance ...........  Lλ = ML × DN + 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2   Brightness temp  BT = K2 / ln(K1/Lλ + 1) − 273.15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3   Veg. fraction .....  Pv = [(NDVI − NDVImin)/(NDVImax − NDVImin)]²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4   Emissivity ..........  ε = 0.004 × Pv + 0.986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5   Final LST ............  LST = BT / [ 1 + (λ·BT/ρ) · ln(ε)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UHI intensity = mean LST(urban) − mean LST(rural buffer)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Trend = slope of LST vs year, 2015–2025 (°C / yr)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91C20"/>
                </a:solidFill>
                <a:latin typeface="Consolas"/>
              </a:rPr>
              <a:t>Forecast: LST2030 = f(history, NDVI, NDBI, built-up %) · RMSE +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547872" cy="4206240"/>
          </a:xfrm>
          <a:prstGeom prst="roundRect">
            <a:avLst/>
          </a:prstGeom>
          <a:solidFill>
            <a:srgbClr val="141416"/>
          </a:solidFill>
          <a:ln w="12700">
            <a:solidFill>
              <a:srgbClr val="14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spc="150">
                <a:solidFill>
                  <a:srgbClr val="F59E0B"/>
                </a:solidFill>
                <a:latin typeface="Segoe UI"/>
              </a:rPr>
              <a:t>METHOD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—  </a:t>
            </a:r>
            <a:r>
              <a:rPr sz="1100" b="0">
                <a:solidFill>
                  <a:srgbClr val="A8A29A"/>
                </a:solidFill>
                <a:latin typeface="Segoe UI"/>
              </a:rPr>
              <a:t>Emissivity via the NDVI-threshold method (Sobrino et al.).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4612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—  </a:t>
            </a:r>
            <a:r>
              <a:rPr sz="1100" b="0">
                <a:solidFill>
                  <a:srgbClr val="A8A29A"/>
                </a:solidFill>
                <a:latin typeface="Segoe UI"/>
              </a:rPr>
              <a:t>Rural baseline: 10 km buffer outside municipal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02336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—  </a:t>
            </a:r>
            <a:r>
              <a:rPr sz="1100" b="0">
                <a:solidFill>
                  <a:srgbClr val="A8A29A"/>
                </a:solidFill>
                <a:latin typeface="Segoe UI"/>
              </a:rPr>
              <a:t>Summer composites only (Mar–Jun), &lt;20% cloud cover.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006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—  </a:t>
            </a:r>
            <a:r>
              <a:rPr sz="1100" b="0">
                <a:solidFill>
                  <a:srgbClr val="A8A29A"/>
                </a:solidFill>
                <a:latin typeface="Segoe UI"/>
              </a:rPr>
              <a:t>Validation against IMD station data + held-out years.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7E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spc="120">
                <a:solidFill>
                  <a:srgbClr val="6E6E6A"/>
                </a:solidFill>
                <a:latin typeface="Segoe UI"/>
              </a:rPr>
              <a:t>HEATSIGHT  · 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